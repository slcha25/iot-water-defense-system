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c77309466d40ec" /><Relationship Type="http://schemas.openxmlformats.org/officeDocument/2006/relationships/extended-properties" Target="/docProps/app.xml" Id="Rda64dc5ac7da475e" /><Relationship Type="http://schemas.openxmlformats.org/officeDocument/2006/relationships/officeDocument" Target="/ppt/presentation.xml" Id="R89ec462230814c8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9b50b0483db42c1"/>
  </p:sldMasterIdLst>
  <p:notesMasterIdLst>
    <p:notesMasterId xmlns:r="http://schemas.openxmlformats.org/officeDocument/2006/relationships" r:id="R129fb95fde124d0a"/>
  </p:notesMasterIdLst>
  <p:sldIdLst>
    <p:sldId xmlns:r="http://schemas.openxmlformats.org/officeDocument/2006/relationships" id="256" r:id="R647a5b7b78a54459"/>
    <p:sldId xmlns:r="http://schemas.openxmlformats.org/officeDocument/2006/relationships" id="257" r:id="Rb9dddee9ebc24e57"/>
    <p:sldId xmlns:r="http://schemas.openxmlformats.org/officeDocument/2006/relationships" id="258" r:id="R592df89ead264afa"/>
    <p:sldId xmlns:r="http://schemas.openxmlformats.org/officeDocument/2006/relationships" id="259" r:id="Rc3a7a96b405c46a5"/>
    <p:sldId xmlns:r="http://schemas.openxmlformats.org/officeDocument/2006/relationships" id="260" r:id="R11d2ebdab5e54d32"/>
    <p:sldId xmlns:r="http://schemas.openxmlformats.org/officeDocument/2006/relationships" id="261" r:id="R431718978ee64470"/>
    <p:sldId xmlns:r="http://schemas.openxmlformats.org/officeDocument/2006/relationships" id="262" r:id="R83a9fe82ab5a4ef1"/>
    <p:sldId xmlns:r="http://schemas.openxmlformats.org/officeDocument/2006/relationships" id="263" r:id="R4b73f0d466fa4ce8"/>
    <p:sldId xmlns:r="http://schemas.openxmlformats.org/officeDocument/2006/relationships" id="264" r:id="Rdd359148d12543a2"/>
    <p:sldId xmlns:r="http://schemas.openxmlformats.org/officeDocument/2006/relationships" id="265" r:id="Rd0e86472de214bae"/>
    <p:sldId xmlns:r="http://schemas.openxmlformats.org/officeDocument/2006/relationships" id="266" r:id="R1b255a701f274849"/>
    <p:sldId xmlns:r="http://schemas.openxmlformats.org/officeDocument/2006/relationships" id="267" r:id="Ra51d949eb852415e"/>
    <p:sldId xmlns:r="http://schemas.openxmlformats.org/officeDocument/2006/relationships" id="268" r:id="R41e0dc946c62445c"/>
    <p:sldId xmlns:r="http://schemas.openxmlformats.org/officeDocument/2006/relationships" id="269" r:id="Rc35dba09fef64764"/>
    <p:sldId xmlns:r="http://schemas.openxmlformats.org/officeDocument/2006/relationships" id="270" r:id="Rf2ca3f4b17dc40c7"/>
  </p:sldIdLst>
  <p:sldSz cx="9144000" cy="5143500"/>
  <p:notesSz cx="6858000" cy="9144000"/>
  <p:embeddedFontLst>
    <p:embeddedFont>
      <p:font typeface="Inter"/>
      <p:regular xmlns:r="http://schemas.openxmlformats.org/officeDocument/2006/relationships" r:id="R2f32ecd0bb724718"/>
      <p:bold xmlns:r="http://schemas.openxmlformats.org/officeDocument/2006/relationships" r:id="R439c05484def4eda"/>
      <p:italic xmlns:r="http://schemas.openxmlformats.org/officeDocument/2006/relationships" r:id="Rf36785b144e34e05"/>
      <p:boldItalic xmlns:r="http://schemas.openxmlformats.org/officeDocument/2006/relationships" r:id="Re8c678d2986343fc"/>
    </p:embeddedFont>
    <p:embeddedFont>
      <p:font typeface="DM Serif Text"/>
      <p:regular xmlns:r="http://schemas.openxmlformats.org/officeDocument/2006/relationships" r:id="R11c514ca25d846a1"/>
      <p:italic xmlns:r="http://schemas.openxmlformats.org/officeDocument/2006/relationships" r:id="Re6c9db7d8e404baf"/>
    </p:embeddedFont>
    <p:embeddedFont>
      <p:font typeface="Inter Medium"/>
      <p:regular xmlns:r="http://schemas.openxmlformats.org/officeDocument/2006/relationships" r:id="Rc214630496304ee9"/>
      <p:bold xmlns:r="http://schemas.openxmlformats.org/officeDocument/2006/relationships" r:id="R3649085dd2dc4ddd"/>
      <p:italic xmlns:r="http://schemas.openxmlformats.org/officeDocument/2006/relationships" r:id="Raacc7b9972f94d4d"/>
      <p:boldItalic xmlns:r="http://schemas.openxmlformats.org/officeDocument/2006/relationships" r:id="Rca52820eefdf4bb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D32B422-EDB1-4FC4-915F-B01DFFAEFE42}">
  <a:tblStyle styleId="{3D32B422-EDB1-4FC4-915F-B01DFFAEFE4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7c42521cdd64196" /><Relationship Type="http://schemas.openxmlformats.org/officeDocument/2006/relationships/slideMaster" Target="/ppt/slideMasters/slideMaster1.xml" Id="R19b50b0483db42c1" /><Relationship Type="http://schemas.openxmlformats.org/officeDocument/2006/relationships/notesMaster" Target="/ppt/notesMasters/notesMaster1.xml" Id="R129fb95fde124d0a" /><Relationship Type="http://schemas.openxmlformats.org/officeDocument/2006/relationships/presProps" Target="/ppt/presProps.xml" Id="R252e17105dfd4514" /><Relationship Type="http://schemas.openxmlformats.org/officeDocument/2006/relationships/viewProps" Target="/ppt/viewProps.xml" Id="Rdcf108bca11a4095" /><Relationship Type="http://schemas.openxmlformats.org/officeDocument/2006/relationships/tableStyles" Target="/ppt/tableStyles.xml" Id="Ra6de70623f3d4c38" /><Relationship Type="http://schemas.openxmlformats.org/officeDocument/2006/relationships/font" Target="/ppt/fonts/font.dat" Id="R2f32ecd0bb724718" /><Relationship Type="http://schemas.openxmlformats.org/officeDocument/2006/relationships/font" Target="/ppt/fonts/font2.dat" Id="R439c05484def4eda" /><Relationship Type="http://schemas.openxmlformats.org/officeDocument/2006/relationships/font" Target="/ppt/fonts/font3.dat" Id="Rf36785b144e34e05" /><Relationship Type="http://schemas.openxmlformats.org/officeDocument/2006/relationships/font" Target="/ppt/fonts/font4.dat" Id="Re8c678d2986343fc" /><Relationship Type="http://schemas.openxmlformats.org/officeDocument/2006/relationships/font" Target="/ppt/fonts/font5.dat" Id="R11c514ca25d846a1" /><Relationship Type="http://schemas.openxmlformats.org/officeDocument/2006/relationships/font" Target="/ppt/fonts/font6.dat" Id="Re6c9db7d8e404baf" /><Relationship Type="http://schemas.openxmlformats.org/officeDocument/2006/relationships/font" Target="/ppt/fonts/font7.dat" Id="Rc214630496304ee9" /><Relationship Type="http://schemas.openxmlformats.org/officeDocument/2006/relationships/font" Target="/ppt/fonts/font8.dat" Id="R3649085dd2dc4ddd" /><Relationship Type="http://schemas.openxmlformats.org/officeDocument/2006/relationships/font" Target="/ppt/fonts/font9.dat" Id="Raacc7b9972f94d4d" /><Relationship Type="http://schemas.openxmlformats.org/officeDocument/2006/relationships/font" Target="/ppt/fonts/font10.dat" Id="Rca52820eefdf4bb7" /><Relationship Type="http://schemas.openxmlformats.org/officeDocument/2006/relationships/slide" Target="/ppt/slides/slide1.xml" Id="R647a5b7b78a54459" /><Relationship Type="http://schemas.openxmlformats.org/officeDocument/2006/relationships/slide" Target="/ppt/slides/slide2.xml" Id="Rb9dddee9ebc24e57" /><Relationship Type="http://schemas.openxmlformats.org/officeDocument/2006/relationships/slide" Target="/ppt/slides/slide3.xml" Id="R592df89ead264afa" /><Relationship Type="http://schemas.openxmlformats.org/officeDocument/2006/relationships/slide" Target="/ppt/slides/slide4.xml" Id="Rc3a7a96b405c46a5" /><Relationship Type="http://schemas.openxmlformats.org/officeDocument/2006/relationships/slide" Target="/ppt/slides/slide5.xml" Id="R11d2ebdab5e54d32" /><Relationship Type="http://schemas.openxmlformats.org/officeDocument/2006/relationships/slide" Target="/ppt/slides/slide6.xml" Id="R431718978ee64470" /><Relationship Type="http://schemas.openxmlformats.org/officeDocument/2006/relationships/slide" Target="/ppt/slides/slide7.xml" Id="R83a9fe82ab5a4ef1" /><Relationship Type="http://schemas.openxmlformats.org/officeDocument/2006/relationships/slide" Target="/ppt/slides/slide8.xml" Id="R4b73f0d466fa4ce8" /><Relationship Type="http://schemas.openxmlformats.org/officeDocument/2006/relationships/slide" Target="/ppt/slides/slide9.xml" Id="Rdd359148d12543a2" /><Relationship Type="http://schemas.openxmlformats.org/officeDocument/2006/relationships/slide" Target="/ppt/slides/slide10.xml" Id="Rd0e86472de214bae" /><Relationship Type="http://schemas.openxmlformats.org/officeDocument/2006/relationships/slide" Target="/ppt/slides/slide11.xml" Id="R1b255a701f274849" /><Relationship Type="http://schemas.openxmlformats.org/officeDocument/2006/relationships/slide" Target="/ppt/slides/slide12.xml" Id="Ra51d949eb852415e" /><Relationship Type="http://schemas.openxmlformats.org/officeDocument/2006/relationships/slide" Target="/ppt/slides/slide13.xml" Id="R41e0dc946c62445c" /><Relationship Type="http://schemas.openxmlformats.org/officeDocument/2006/relationships/slide" Target="/ppt/slides/slide14.xml" Id="Rc35dba09fef64764" /><Relationship Type="http://schemas.openxmlformats.org/officeDocument/2006/relationships/slide" Target="/ppt/slides/slide15.xml" Id="Rf2ca3f4b17dc40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1e1b8a6bae4d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
          <a:effectLst>
            <a:outerShdw blurRad="209550" dist="90362" dir="4293903">
              <a:srgbClr val="000000">
                <a:alpha val="2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e8ee6e1004fe4" /><Relationship Type="http://schemas.openxmlformats.org/officeDocument/2006/relationships/notesMaster" Target="/ppt/notesMasters/notesMaster1.xml" Id="R8446608c98a34b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c340fb69334be7" /><Relationship Type="http://schemas.openxmlformats.org/officeDocument/2006/relationships/notesMaster" Target="/ppt/notesMasters/notesMaster1.xml" Id="R19cbf8b5018742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c49d39ffa7494a" /><Relationship Type="http://schemas.openxmlformats.org/officeDocument/2006/relationships/notesMaster" Target="/ppt/notesMasters/notesMaster1.xml" Id="R9c5e5398c6f641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8093f577424f8b" /><Relationship Type="http://schemas.openxmlformats.org/officeDocument/2006/relationships/notesMaster" Target="/ppt/notesMasters/notesMaster1.xml" Id="R07e3f1ddc8044c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281ff0051d4ea1" /><Relationship Type="http://schemas.openxmlformats.org/officeDocument/2006/relationships/notesMaster" Target="/ppt/notesMasters/notesMaster1.xml" Id="R02682e82b7f74f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0bb0d1615d4365" /><Relationship Type="http://schemas.openxmlformats.org/officeDocument/2006/relationships/notesMaster" Target="/ppt/notesMasters/notesMaster1.xml" Id="Reecca0c8f3ac42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56659a91b54b62" /><Relationship Type="http://schemas.openxmlformats.org/officeDocument/2006/relationships/notesMaster" Target="/ppt/notesMasters/notesMaster1.xml" Id="R1b99fda584da40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e43132d2ca4d29" /><Relationship Type="http://schemas.openxmlformats.org/officeDocument/2006/relationships/notesMaster" Target="/ppt/notesMasters/notesMaster1.xml" Id="Rbf1fbb28e4d845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39d7dbab724e42" /><Relationship Type="http://schemas.openxmlformats.org/officeDocument/2006/relationships/notesMaster" Target="/ppt/notesMasters/notesMaster1.xml" Id="R074fb8039cca4f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84089fffce46a3" /><Relationship Type="http://schemas.openxmlformats.org/officeDocument/2006/relationships/notesMaster" Target="/ppt/notesMasters/notesMaster1.xml" Id="R33a4b3b698c84b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ce7d7f56824785" /><Relationship Type="http://schemas.openxmlformats.org/officeDocument/2006/relationships/notesMaster" Target="/ppt/notesMasters/notesMaster1.xml" Id="R9858ca0d2d1446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3d6406fed94bfd" /><Relationship Type="http://schemas.openxmlformats.org/officeDocument/2006/relationships/notesMaster" Target="/ppt/notesMasters/notesMaster1.xml" Id="R8d295787e8d546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3535da8d8447ee" /><Relationship Type="http://schemas.openxmlformats.org/officeDocument/2006/relationships/notesMaster" Target="/ppt/notesMasters/notesMaster1.xml" Id="R471d1ae09fe74f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72b3090757486d" /><Relationship Type="http://schemas.openxmlformats.org/officeDocument/2006/relationships/notesMaster" Target="/ppt/notesMasters/notesMaster1.xml" Id="R82c552380d314e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674e23fa8f4869" /><Relationship Type="http://schemas.openxmlformats.org/officeDocument/2006/relationships/notesMaster" Target="/ppt/notesMasters/notesMaster1.xml" Id="R88dcc5a99d1d4e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project protects the Grand Marina Hotel’s water-monitoring pipeline. The main goal is to make sure the dashboard receives data that is private, comes from an approved device, has not been changed, and is still current.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capstone project and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Before the defenses were added, an attacker had three realistic options. They could read the traffic, submit a false value, or resend an old value. Each one can create an operational problem because hotel staff may act on information that looks normal but is not trustworthy.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Threat scenarios documented in the user-provided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four defenses are designed to work together. TLS protects the connection, mTLS confirms the device, HMAC protects the message, and the timestamp plus sequence counter protects freshness. If one layer is removed, one part of trust is no longer proven.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Controls implemented in the user-provided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reading passes through several checks before it reaches the dashboard. The broker first checks the encrypted connection and the device certificate. The subscriber then checks the signature, age, and sequence. A valid message updates the dashboard; a failed check creates a security event instead.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Validation flow implemented in the user-provided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combined defense blocked all fifteen simulated attacks. The result matters because each attack was stopped by the expected control. This shows that the layers are not duplicates; each one closes a different gap.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test result: 15 of 15 simulated attacks blocked.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simulator created the three attack types in separate terminals so the tests could be repeated. I checked both sides of the result: the terminal showed the rejection, and the dashboard logged the security event without accepting the malicious reading.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terminal screenshot and demonstration link.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Replay attacks can look different. Some are immediate duplicates, some are delayed, and some have been changed. A timestamp or sequence counter by itself did not cover every form. The combined checks rejected every replay variant tested.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replay comparison chart.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screenshot shows the system separating normal activity from attack traffic. Fifty-four valid messages continued to update the dashboard, while five malicious messages were blocked and recorded. Security therefore protected the system without stopping normal telemetry.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dashboard screenshot showing 59 total messages, 54 valid messages, and 5 blocked attacks.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dashboard gives the operator one view of both water conditions and security. It covers three hotel zones and shows pressure, flow, gate position, device connection, anomaly status, and rejected-message evidence. That makes a technical security result easier to use during hotel operations.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custom dashboard screenshot.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Anomaly Detection Results - Sok Leng Chan.pdf</a:t>
            </a:r>
            <a:endParaRPr/>
          </a:p>
          <a:p xmlns:a="http://schemas.openxmlformats.org/drawingml/2006/main">
            <a:pPr marL="0" lvl="0" indent="0" algn="l">
              <a:spcBef>
                <a:spcPts val="0"/>
              </a:spcBef>
              <a:spcAft>
                <a:spcPts val="0"/>
              </a:spcAft>
              <a:buNone/>
            </a:pPr>
            <a:r>
              <a:t>- User-provided IoT project _Additional Slides.pptx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live test environment screenshot from IoT project _Additional Slides.pptx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AI dashboard screenshot from IoT project _Additional Slides.pptx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testing produced four main lessons. Layering is necessary, the entire pipeline needs protection, attack simulation provides stronger evidence than normal operation, and the current test scope still has limits. These lessons define what a production phase should address next.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Findings derived from the user-provided implementation and tests.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next steps focus on keeping the protection reliable over time. Certificates must be renewed and revoked, signing keys must be isolated, alerts need one monitoring process, and the team should practice outages and recovery. These actions move the prototype toward a system the hotel can operate safely.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Recommendations based on the user-provided prototype findings.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final result is that all tested attacks were blocked while valid messages continued to reach the dashboard. The prototype shows that layered defenses can make connected hotel operations more trustworthy without hiding the outcome from staff.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User-provided capstone project and test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6a5a89c4334a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30a0a53a0c47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80ed7c55f940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c40a2fd2e44a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cf47f8e45a4e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e88d8514eb495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7c0f3e703cd46e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3ed00abfd8b470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5d5ca09f43b4c6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f2a9d2e207a4c4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e29c8f6dcff429d"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D832C373-1854-4183-83C7-E968E5C9FD1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DA8ECC17-AFD2-4FD9-B234-125000B8299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F474CA8C-DF59-4E63-A4AE-68AC9D8F31D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925EA8C1-94C8-46D5-8CD0-C51816BC958E}"/>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A593879-A260-4E93-A7E7-D818C92E3C8B}"/>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5EE5D75D-D956-4C8E-BF9E-EE1030DD615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1BE8F198-D627-4D7E-86F1-CE9663A7C4F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CEF0B3FD-737F-4A4A-A161-CB6C3B02101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95A71D41-F25C-4A9E-AB8F-AF439B4A272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84DEA6F0-D7C1-4331-8349-972A2D43B00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4E2581D1-500E-4D1E-A3F1-0303E392A13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45C8059-DDB3-475A-83CE-A82F62FC433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284C4C2E-4E0F-4B83-9329-CEDC4CC442F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F8EAC79-C3F5-4C06-86EC-277F53B62DE8}"/>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6EFA2822-DEA0-4715-AD52-24BBE2FC6C3C}"/>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216AD840-01B5-430B-BEBC-E417C8E3456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DE587120-F7AB-4407-8CA3-45E153E4BE6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20837011-8248-4E8D-81AE-3B55E89E0D3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A924E0DD-BD48-4ACA-9589-4BC9CA318BF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65094BD8-8FD6-41A8-8CDA-CCB464EF1835}"/>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35F572DE-EFA5-42E3-B3C9-50940E0233F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54DDBE4C-3ADC-44D3-ABDF-48D308CD731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B4571FA6-FA35-4F4A-A6B2-3E55C672494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81DF87FD-B177-4363-B73B-F2C5E4793BA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D443D386-C885-4EEC-9144-F5C0570412B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51EA4476-3FCA-4A8C-8C68-775624A658CC}"/>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230CF5B1-5E72-4F42-A78B-28AA343E7DC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771ECA6F-1C60-42C1-BCA8-4499065F680D}"/>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F5610778-A302-49BA-BBE3-26C6E14F1D38}"/>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5CFE609D-A283-4864-94F6-D9F1951EE19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913ED243-9E9A-4BDE-AC85-176ECFC3549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A33BAB75-D03A-4375-8CE8-1129AFCF17F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75CD9E52-E17E-499E-8B8D-A83BE37260A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671E5056-D78C-40CE-9D99-FC7719E6D7D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69070B04-8628-493E-9989-D53A1E24435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C8215384-4167-4874-87DB-72E1030A1CE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62BD9882-A925-414F-969A-D28DB0CBF761}"/>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9EFB1FDF-E8DF-4CE1-AE59-9650F77E2102}"/>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AC7AB5A4-ABC8-4929-B9C2-271D6D6A4C2B}"/>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EC9BBFC0-B6C7-4DE1-A2AD-4E4E1EB9B6D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7CAD7532-F0CD-4828-AC63-11DBA1FFE04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992B0800-4707-4661-BDF1-C984EFCB8CB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D9A6BB8D-1330-4CDA-8E19-F704EF4D4BB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8E04C7AE-D6D4-45B5-A338-65A19C84BB07}"/>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CFDEFBD5-C769-46D4-823C-B03CE8BE8388}"/>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859FA55E-2040-4C8E-9C66-2F20C9B9E1B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449DE78F-E911-4808-9466-390666C5D6A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AC8F1C2F-FB0C-4303-8B3A-F5E9376176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FC2626E7-7091-4FEC-902C-DBD24106CF7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929C7161-822E-44BD-B67C-B369D72F10C4}"/>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7343C3C6-ADB4-4D68-93DE-40183A06FB7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3DCCF6D6-E231-48D7-8442-05A5E2315A9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00AC1FCA-2FA0-43A3-905F-6F51DD96FA8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107A4262-CA98-461F-B585-4CB3B589C2BC}"/>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C38B1664-9DCE-4128-86F0-B622C2A1026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671A5DA5-52D7-430B-A756-5FAC1709224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1E034D0-3A0A-4257-8049-727F6697E95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2C15AA67-1C19-41DC-A45F-AED0033FA75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64643578a14a54" /><Relationship Type="http://schemas.openxmlformats.org/officeDocument/2006/relationships/slideLayout" Target="/ppt/slideLayouts/slideLayout1.xml" Id="R542d965a945f4e12" /><Relationship Type="http://schemas.openxmlformats.org/officeDocument/2006/relationships/slideLayout" Target="/ppt/slideLayouts/slideLayout2.xml" Id="R3c1d92ef94ed44c8" /><Relationship Type="http://schemas.openxmlformats.org/officeDocument/2006/relationships/slideLayout" Target="/ppt/slideLayouts/slideLayout3.xml" Id="R1a701a0db7b54896" /><Relationship Type="http://schemas.openxmlformats.org/officeDocument/2006/relationships/slideLayout" Target="/ppt/slideLayouts/slideLayout4.xml" Id="Rafbd61cae4c44536" /><Relationship Type="http://schemas.openxmlformats.org/officeDocument/2006/relationships/slideLayout" Target="/ppt/slideLayouts/slideLayout5.xml" Id="Rb2ab7c58037a49df" /><Relationship Type="http://schemas.openxmlformats.org/officeDocument/2006/relationships/slideLayout" Target="/ppt/slideLayouts/slideLayout6.xml" Id="R33c4c51192874852" /><Relationship Type="http://schemas.openxmlformats.org/officeDocument/2006/relationships/slideLayout" Target="/ppt/slideLayouts/slideLayout7.xml" Id="Re1ac5cca49b44ef3" /><Relationship Type="http://schemas.openxmlformats.org/officeDocument/2006/relationships/slideLayout" Target="/ppt/slideLayouts/slideLayout8.xml" Id="R7f3dd70ff4544294" /><Relationship Type="http://schemas.openxmlformats.org/officeDocument/2006/relationships/slideLayout" Target="/ppt/slideLayouts/slideLayout9.xml" Id="R089518151a56431d" /><Relationship Type="http://schemas.openxmlformats.org/officeDocument/2006/relationships/slideLayout" Target="/ppt/slideLayouts/slideLayout10.xml" Id="R499539b30af24aea" /><Relationship Type="http://schemas.openxmlformats.org/officeDocument/2006/relationships/slideLayout" Target="/ppt/slideLayouts/slideLayout11.xml" Id="R4fa97e80f522408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8F31AD8A-0BE9-41D8-8AA7-FD764340161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F333E0E-0745-4E53-A02D-CA639F20DCD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D23D18-88F6-4CBD-88DC-0138C934201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1C069DD6-3581-4988-A6CC-3DD9D5308EC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182973AE-1927-4B66-BC34-646C077F575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42d965a945f4e12"/>
    <p:sldLayoutId xmlns:r="http://schemas.openxmlformats.org/officeDocument/2006/relationships" id="2147483650" r:id="R3c1d92ef94ed44c8"/>
    <p:sldLayoutId xmlns:r="http://schemas.openxmlformats.org/officeDocument/2006/relationships" id="2147483651" r:id="R1a701a0db7b54896"/>
    <p:sldLayoutId xmlns:r="http://schemas.openxmlformats.org/officeDocument/2006/relationships" id="2147483652" r:id="Rafbd61cae4c44536"/>
    <p:sldLayoutId xmlns:r="http://schemas.openxmlformats.org/officeDocument/2006/relationships" id="2147483653" r:id="Rb2ab7c58037a49df"/>
    <p:sldLayoutId xmlns:r="http://schemas.openxmlformats.org/officeDocument/2006/relationships" id="2147483654" r:id="R33c4c51192874852"/>
    <p:sldLayoutId xmlns:r="http://schemas.openxmlformats.org/officeDocument/2006/relationships" id="2147483655" r:id="Re1ac5cca49b44ef3"/>
    <p:sldLayoutId xmlns:r="http://schemas.openxmlformats.org/officeDocument/2006/relationships" id="2147483656" r:id="R7f3dd70ff4544294"/>
    <p:sldLayoutId xmlns:r="http://schemas.openxmlformats.org/officeDocument/2006/relationships" id="2147483657" r:id="R089518151a56431d"/>
    <p:sldLayoutId xmlns:r="http://schemas.openxmlformats.org/officeDocument/2006/relationships" id="2147483658" r:id="R499539b30af24aea"/>
    <p:sldLayoutId xmlns:r="http://schemas.openxmlformats.org/officeDocument/2006/relationships" id="2147483659" r:id="R4fa97e80f522408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70b5a43dcb4f2f" /><Relationship Type="http://schemas.openxmlformats.org/officeDocument/2006/relationships/notesSlide" Target="/ppt/notesSlides/notesSlide1.xml" Id="Ra9654760a24b44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58e8fefd224af4" /><Relationship Type="http://schemas.openxmlformats.org/officeDocument/2006/relationships/notesSlide" Target="/ppt/notesSlides/notesSlide2.xml" Id="R1bbedb5bf00049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fe4bd2016a43ad" /><Relationship Type="http://schemas.openxmlformats.org/officeDocument/2006/relationships/notesSlide" Target="/ppt/notesSlides/notesSlide3.xml" Id="R433c5aaecc6a4f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ca3204a9e146d1" /><Relationship Type="http://schemas.openxmlformats.org/officeDocument/2006/relationships/notesSlide" Target="/ppt/notesSlides/notesSlide4.xml" Id="Rd10544951be043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14f3e6946c44bb" /><Relationship Type="http://schemas.openxmlformats.org/officeDocument/2006/relationships/notesSlide" Target="/ppt/notesSlides/notesSlide5.xml" Id="R6ac3dc322e714c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e20eca72e348f8" /><Relationship Type="http://schemas.openxmlformats.org/officeDocument/2006/relationships/hyperlink" Target="https://drive.google.com/file/d/1M_1ju2n27jXrr6frrMz9XPyOaMPnGyvE/view?usp=sharing" TargetMode="External" Id="R9db875fd05bf46f9" /><Relationship Type="http://schemas.openxmlformats.org/officeDocument/2006/relationships/image" Target="/ppt/media/image.jpeg" Id="R2229c279401c4d1c" /><Relationship Type="http://schemas.openxmlformats.org/officeDocument/2006/relationships/notesSlide" Target="/ppt/notesSlides/notesSlide6.xml" Id="R9799ff0513754c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c67a0b05854b97" /><Relationship Type="http://schemas.openxmlformats.org/officeDocument/2006/relationships/image" Target="/ppt/media/image.png" Id="Rca609619eb2f41ab" /><Relationship Type="http://schemas.openxmlformats.org/officeDocument/2006/relationships/notesSlide" Target="/ppt/notesSlides/notesSlide7.xml" Id="R6e5b50ec5f4c4b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9604442d30497c" /><Relationship Type="http://schemas.openxmlformats.org/officeDocument/2006/relationships/image" Target="/ppt/media/image2.png" Id="Reb78c30bc43342e4" /><Relationship Type="http://schemas.openxmlformats.org/officeDocument/2006/relationships/notesSlide" Target="/ppt/notesSlides/notesSlide8.xml" Id="Rdc480050ef6e4d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0fe21216ca45a9" /><Relationship Type="http://schemas.openxmlformats.org/officeDocument/2006/relationships/image" Target="/ppt/media/image2.jpeg" Id="R46f80496dc864aea" /><Relationship Type="http://schemas.openxmlformats.org/officeDocument/2006/relationships/notesSlide" Target="/ppt/notesSlides/notesSlide9.xml" Id="R69a951f427e449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23250aa5bc4517" /><Relationship Type="http://schemas.openxmlformats.org/officeDocument/2006/relationships/notesSlide" Target="/ppt/notesSlides/notesSlide10.xml" Id="R261e13e9ad2548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0634e9938e4462" /><Relationship Type="http://schemas.openxmlformats.org/officeDocument/2006/relationships/hyperlink" Target="https://drive.google.com/file/d/1M_1ju2n27jXrr6frrMz9XPyOaMPnGyvE/view?usp=sharing" TargetMode="External" Id="Re07750b620234783" /><Relationship Type="http://schemas.openxmlformats.org/officeDocument/2006/relationships/image" Target="/ppt/media/image.jpeg" Id="Ra839791a009c4f37" /><Relationship Type="http://schemas.openxmlformats.org/officeDocument/2006/relationships/notesSlide" Target="/ppt/notesSlides/notesSlide11.xml" Id="Rb702772dd46d45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8875c59b784c5b" /><Relationship Type="http://schemas.openxmlformats.org/officeDocument/2006/relationships/image" Target="/ppt/media/image2.jpeg" Id="Rb5b3ac9332a64338" /><Relationship Type="http://schemas.openxmlformats.org/officeDocument/2006/relationships/notesSlide" Target="/ppt/notesSlides/notesSlide12.xml" Id="R850f1343c94644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fbecaf77334a79" /><Relationship Type="http://schemas.openxmlformats.org/officeDocument/2006/relationships/notesSlide" Target="/ppt/notesSlides/notesSlide13.xml" Id="R57c600eeae8c46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9ccb876a6547ea" /><Relationship Type="http://schemas.openxmlformats.org/officeDocument/2006/relationships/notesSlide" Target="/ppt/notesSlides/notesSlide14.xml" Id="R3f6f4e5aa8cf4f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58d405474744a4" /><Relationship Type="http://schemas.openxmlformats.org/officeDocument/2006/relationships/notesSlide" Target="/ppt/notesSlides/notesSlide15.xml" Id="R275da9047f5743f3" /></Relationships>
</file>

<file path=ppt/slides/slide1.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9B033060-6EA7-46E8-A97B-CC7047D54948}"/>
              </a:ext>
            </a:extLst>
          </p:cNvPr>
          <p:cNvSpPr>
            <a:spLocks xmlns:a="http://schemas.openxmlformats.org/drawingml/2006/main" noGrp="1"/>
          </p:cNvSpPr>
          <p:nvPr/>
        </p:nvSpPr>
        <p:spPr>
          <a:xfrm xmlns:a="http://schemas.openxmlformats.org/drawingml/2006/main">
            <a:off x="1371600" y="1097280"/>
            <a:ext cx="64008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3450" b="1" i="0">
                <a:solidFill>
                  <a:srgbClr val="F5FCFC"/>
                </a:solidFill>
                <a:latin typeface="Inter"/>
                <a:ea typeface="Inter"/>
                <a:cs typeface="Inter"/>
              </a:defRPr>
            </a:pPr>
            <a:r>
              <a:rPr sz="3450" b="1" i="0" u="none" cap="none">
                <a:gradFill>
                  <a:gsLst>
                    <a:gs pos="0">
                      <a:srgbClr val="F5FCFC"/>
                    </a:gs>
                    <a:gs pos="58000">
                      <a:srgbClr val="87EBC7"/>
                    </a:gs>
                    <a:gs pos="100000">
                      <a:srgbClr val="4FC3F7"/>
                    </a:gs>
                  </a:gsLst>
                  <a:lin ang="0"/>
                </a:gradFill>
                <a:latin typeface="Inter"/>
                <a:ea typeface="Inter"/>
                <a:cs typeface="Inter"/>
              </a:rPr>
              <a:t>Grand Marina IoT Security</a:t>
            </a:r>
            <a:endParaRPr/>
          </a:p>
        </p:txBody>
      </p:sp>
      <p:sp>
        <p:nvSpPr>
          <p:cNvPr id="85" name="Google Shape;85;p13">
            <a:extLst xmlns:a="http://schemas.openxmlformats.org/drawingml/2006/main">
              <a:ext uri="{FF2B5EF4-FFF2-40B4-BE49-F238E27FC236}">
                <a16:creationId xmlns:a16="http://schemas.microsoft.com/office/drawing/2014/main" id="{6C224E32-2FBE-467D-B633-544B29753324}"/>
              </a:ext>
            </a:extLst>
          </p:cNvPr>
          <p:cNvSpPr>
            <a:spLocks xmlns:a="http://schemas.openxmlformats.org/drawingml/2006/main" noGrp="1"/>
          </p:cNvSpPr>
          <p:nvPr/>
        </p:nvSpPr>
        <p:spPr>
          <a:xfrm xmlns:a="http://schemas.openxmlformats.org/drawingml/2006/main">
            <a:off x="1371600" y="2011680"/>
            <a:ext cx="6400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275" b="0" i="0">
                <a:solidFill>
                  <a:srgbClr val="96AFB9"/>
                </a:solidFill>
                <a:latin typeface="Inter"/>
                <a:ea typeface="Inter"/>
                <a:cs typeface="Inter"/>
              </a:defRPr>
            </a:pPr>
            <a:r>
              <a:rPr sz="1275" b="0" i="0" u="none" cap="none">
                <a:solidFill>
                  <a:srgbClr val="96AFB9"/>
                </a:solidFill>
                <a:latin typeface="Inter"/>
                <a:ea typeface="Inter"/>
                <a:cs typeface="Inter"/>
              </a:rPr>
              <a:t>How layered controls protected the hotel’s water-monitoring pipeline</a:t>
            </a:r>
            <a:endParaRPr/>
          </a:p>
        </p:txBody>
      </p:sp>
      <p:sp>
        <p:nvSpPr>
          <p:cNvPr id="86" name="Google Shape;86;p13">
            <a:extLst xmlns:a="http://schemas.openxmlformats.org/drawingml/2006/main">
              <a:ext uri="{FF2B5EF4-FFF2-40B4-BE49-F238E27FC236}">
                <a16:creationId xmlns:a16="http://schemas.microsoft.com/office/drawing/2014/main" id="{D9FB267B-F52D-4F1E-9625-BDE9EB5FDD81}"/>
              </a:ext>
            </a:extLst>
          </p:cNvPr>
          <p:cNvSpPr>
            <a:spLocks xmlns:a="http://schemas.openxmlformats.org/drawingml/2006/main" noGrp="1"/>
          </p:cNvSpPr>
          <p:nvPr/>
        </p:nvSpPr>
        <p:spPr>
          <a:xfrm xmlns:a="http://schemas.openxmlformats.org/drawingml/2006/main">
            <a:off x="1371600" y="3200400"/>
            <a:ext cx="64008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050" b="0" i="0">
                <a:solidFill>
                  <a:srgbClr val="96AFB9"/>
                </a:solidFill>
                <a:latin typeface="Inter"/>
                <a:ea typeface="Inter"/>
                <a:cs typeface="Inter"/>
              </a:defRPr>
            </a:pPr>
            <a:r>
              <a:rPr sz="1050" b="0" i="0" u="none" cap="none">
                <a:solidFill>
                  <a:srgbClr val="96AFB9"/>
                </a:solidFill>
                <a:latin typeface="Inter"/>
                <a:ea typeface="Inter"/>
                <a:cs typeface="Inter"/>
              </a:rPr>
              <a:t>Sok Leng Chan  ·  Cybersecurity Extern  ·  August 2026</a:t>
            </a:r>
            <a:endParaRPr/>
          </a:p>
        </p:txBody>
      </p:sp>
      <p:sp>
        <p:nvSpPr>
          <p:cNvPr id="87" name="Google Shape;87;p13">
            <a:extLst xmlns:a="http://schemas.openxmlformats.org/drawingml/2006/main">
              <a:ext uri="{FF2B5EF4-FFF2-40B4-BE49-F238E27FC236}">
                <a16:creationId xmlns:a16="http://schemas.microsoft.com/office/drawing/2014/main" id="{03172D1E-E878-4615-AC8E-F8A55EA22F53}"/>
              </a:ext>
            </a:extLst>
          </p:cNvPr>
          <p:cNvSpPr>
            <a:spLocks xmlns:a="http://schemas.openxmlformats.org/drawingml/2006/main" noGrp="1"/>
          </p:cNvSpPr>
          <p:nvPr/>
        </p:nvSpPr>
        <p:spPr>
          <a:xfrm xmlns:a="http://schemas.openxmlformats.org/drawingml/2006/main">
            <a:off x="3200400" y="2926080"/>
            <a:ext cx="2743200" cy="25400"/>
          </a:xfrm>
          <a:prstGeom xmlns:a="http://schemas.openxmlformats.org/drawingml/2006/main" prst="rect">
            <a:avLst/>
          </a:prstGeom>
          <a:gradFill xmlns:a="http://schemas.openxmlformats.org/drawingml/2006/main">
            <a:gsLst>
              <a:gs pos="0">
                <a:srgbClr val="4FC3F7"/>
              </a:gs>
              <a:gs pos="50000">
                <a:srgbClr val="22C7B8"/>
              </a:gs>
              <a:gs pos="100000">
                <a:srgbClr val="87EBC7"/>
              </a:gs>
            </a:gsLst>
            <a:lin ang="0"/>
          </a:gra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865114394"/>
      </p:ext>
    </p:extLst>
  </p:cSld>
</p:sld>
</file>

<file path=ppt/slides/slide2.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92" name="Google Shape;92;p14">
            <a:extLst xmlns:a="http://schemas.openxmlformats.org/drawingml/2006/main">
              <a:ext uri="{FF2B5EF4-FFF2-40B4-BE49-F238E27FC236}">
                <a16:creationId xmlns:a16="http://schemas.microsoft.com/office/drawing/2014/main" id="{D44EFB75-F5C3-4E39-8F13-5224D5362D96}"/>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01</a:t>
            </a:r>
            <a:endParaRPr/>
          </a:p>
        </p:txBody>
      </p:sp>
      <p:sp>
        <p:nvSpPr>
          <p:cNvPr id="93" name="Google Shape;93;p14">
            <a:extLst xmlns:a="http://schemas.openxmlformats.org/drawingml/2006/main">
              <a:ext uri="{FF2B5EF4-FFF2-40B4-BE49-F238E27FC236}">
                <a16:creationId xmlns:a16="http://schemas.microsoft.com/office/drawing/2014/main" id="{1E0618CF-27EE-4131-B807-28E8285BBFF6}"/>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6308"/>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Unprotected MQTT Traffic Exposes Hotel Operations</a:t>
            </a:r>
            <a:endParaRPr/>
          </a:p>
        </p:txBody>
      </p:sp>
      <p:sp>
        <p:nvSpPr>
          <p:cNvPr id="94" name="Google Shape;94;p14">
            <a:extLst xmlns:a="http://schemas.openxmlformats.org/drawingml/2006/main">
              <a:ext uri="{FF2B5EF4-FFF2-40B4-BE49-F238E27FC236}">
                <a16:creationId xmlns:a16="http://schemas.microsoft.com/office/drawing/2014/main" id="{01203414-7B6F-4316-8C43-1223404CE06C}"/>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Three realistic attack paths can turn sensor access into service disruption, property risk, and poor operational decisions.</a:t>
            </a:r>
            <a:endParaRPr/>
          </a:p>
        </p:txBody>
      </p:sp>
      <p:sp>
        <p:nvSpPr>
          <p:cNvPr id="95" name="Google Shape;95;p14">
            <a:extLst xmlns:a="http://schemas.openxmlformats.org/drawingml/2006/main">
              <a:ext uri="{FF2B5EF4-FFF2-40B4-BE49-F238E27FC236}">
                <a16:creationId xmlns:a16="http://schemas.microsoft.com/office/drawing/2014/main" id="{7720C9EC-87DC-4010-8078-434619EB4A9B}"/>
              </a:ext>
            </a:extLst>
          </p:cNvPr>
          <p:cNvSpPr>
            <a:spLocks xmlns:a="http://schemas.openxmlformats.org/drawingml/2006/main" noGrp="1"/>
          </p:cNvSpPr>
          <p:nvPr/>
        </p:nvSpPr>
        <p:spPr>
          <a:xfrm xmlns:a="http://schemas.openxmlformats.org/drawingml/2006/main">
            <a:off x="1005840" y="1645920"/>
            <a:ext cx="2286000" cy="228600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4FC3F7">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96" name="Google Shape;96;p14">
            <a:extLst xmlns:a="http://schemas.openxmlformats.org/drawingml/2006/main">
              <a:ext uri="{FF2B5EF4-FFF2-40B4-BE49-F238E27FC236}">
                <a16:creationId xmlns:a16="http://schemas.microsoft.com/office/drawing/2014/main" id="{3F615F71-1747-4D8B-A05B-87AA792E7B36}"/>
              </a:ext>
            </a:extLst>
          </p:cNvPr>
          <p:cNvSpPr>
            <a:spLocks xmlns:a="http://schemas.openxmlformats.org/drawingml/2006/main" noGrp="1"/>
          </p:cNvSpPr>
          <p:nvPr/>
        </p:nvSpPr>
        <p:spPr>
          <a:xfrm xmlns:a="http://schemas.openxmlformats.org/drawingml/2006/main">
            <a:off x="1188720" y="1828800"/>
            <a:ext cx="1920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4FC3F7"/>
                </a:solidFill>
                <a:latin typeface="Inter"/>
                <a:ea typeface="Inter"/>
                <a:cs typeface="Inter"/>
              </a:defRPr>
            </a:pPr>
            <a:r>
              <a:rPr sz="1425" b="1" i="0" u="none" cap="none">
                <a:solidFill>
                  <a:srgbClr val="4FC3F7"/>
                </a:solidFill>
                <a:latin typeface="Inter"/>
                <a:ea typeface="Inter"/>
                <a:cs typeface="Inter"/>
              </a:rPr>
              <a:t>Eavesdropping</a:t>
            </a:r>
            <a:endParaRPr/>
          </a:p>
        </p:txBody>
      </p:sp>
      <p:sp>
        <p:nvSpPr>
          <p:cNvPr id="97" name="Google Shape;97;p14">
            <a:extLst xmlns:a="http://schemas.openxmlformats.org/drawingml/2006/main">
              <a:ext uri="{FF2B5EF4-FFF2-40B4-BE49-F238E27FC236}">
                <a16:creationId xmlns:a16="http://schemas.microsoft.com/office/drawing/2014/main" id="{617DEE07-A4DB-4D30-BF32-9D1E8F8B5ED4}"/>
              </a:ext>
            </a:extLst>
          </p:cNvPr>
          <p:cNvSpPr>
            <a:spLocks xmlns:a="http://schemas.openxmlformats.org/drawingml/2006/main" noGrp="1"/>
          </p:cNvSpPr>
          <p:nvPr/>
        </p:nvSpPr>
        <p:spPr>
          <a:xfrm xmlns:a="http://schemas.openxmlformats.org/drawingml/2006/main">
            <a:off x="1188645" y="2146315"/>
            <a:ext cx="1920300" cy="178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Without encryption, someone on the network could read pressure and flow values. The data reveals operating patterns and can support a later attack.</a:t>
            </a:r>
            <a:endParaRPr sz="1100">
              <a:solidFill>
                <a:srgbClr val="666666"/>
              </a:solidFill>
              <a:latin typeface="Inter"/>
              <a:ea typeface="Inter"/>
              <a:cs typeface="Inter"/>
            </a:endParaRPr>
          </a:p>
        </p:txBody>
      </p:sp>
      <p:sp>
        <p:nvSpPr>
          <p:cNvPr id="98" name="Google Shape;98;p14">
            <a:extLst xmlns:a="http://schemas.openxmlformats.org/drawingml/2006/main">
              <a:ext uri="{FF2B5EF4-FFF2-40B4-BE49-F238E27FC236}">
                <a16:creationId xmlns:a16="http://schemas.microsoft.com/office/drawing/2014/main" id="{89213409-291E-489E-8288-86B2D237F105}"/>
              </a:ext>
            </a:extLst>
          </p:cNvPr>
          <p:cNvSpPr>
            <a:spLocks xmlns:a="http://schemas.openxmlformats.org/drawingml/2006/main" noGrp="1"/>
          </p:cNvSpPr>
          <p:nvPr/>
        </p:nvSpPr>
        <p:spPr>
          <a:xfrm xmlns:a="http://schemas.openxmlformats.org/drawingml/2006/main">
            <a:off x="3566160" y="1645920"/>
            <a:ext cx="2286000" cy="228600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FF7A78">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99" name="Google Shape;99;p14">
            <a:extLst xmlns:a="http://schemas.openxmlformats.org/drawingml/2006/main">
              <a:ext uri="{FF2B5EF4-FFF2-40B4-BE49-F238E27FC236}">
                <a16:creationId xmlns:a16="http://schemas.microsoft.com/office/drawing/2014/main" id="{7F8E4BBA-F621-412A-849F-1E9176DDF197}"/>
              </a:ext>
            </a:extLst>
          </p:cNvPr>
          <p:cNvSpPr>
            <a:spLocks xmlns:a="http://schemas.openxmlformats.org/drawingml/2006/main" noGrp="1"/>
          </p:cNvSpPr>
          <p:nvPr/>
        </p:nvSpPr>
        <p:spPr>
          <a:xfrm xmlns:a="http://schemas.openxmlformats.org/drawingml/2006/main">
            <a:off x="3792915" y="1730100"/>
            <a:ext cx="19203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FF7A78"/>
                </a:solidFill>
                <a:latin typeface="Inter"/>
                <a:ea typeface="Inter"/>
                <a:cs typeface="Inter"/>
              </a:defRPr>
            </a:pPr>
            <a:r>
              <a:rPr sz="1425" b="1" i="0" u="none" cap="none">
                <a:solidFill>
                  <a:srgbClr val="FF7A78"/>
                </a:solidFill>
                <a:latin typeface="Inter"/>
                <a:ea typeface="Inter"/>
                <a:cs typeface="Inter"/>
              </a:rPr>
              <a:t>Data Injection</a:t>
            </a:r>
            <a:endParaRPr/>
          </a:p>
        </p:txBody>
      </p:sp>
      <p:sp>
        <p:nvSpPr>
          <p:cNvPr id="100" name="Google Shape;100;p14">
            <a:extLst xmlns:a="http://schemas.openxmlformats.org/drawingml/2006/main">
              <a:ext uri="{FF2B5EF4-FFF2-40B4-BE49-F238E27FC236}">
                <a16:creationId xmlns:a16="http://schemas.microsoft.com/office/drawing/2014/main" id="{2B1F6355-15C8-4BC0-B6D6-DA0F03C9F3E3}"/>
              </a:ext>
            </a:extLst>
          </p:cNvPr>
          <p:cNvSpPr>
            <a:spLocks xmlns:a="http://schemas.openxmlformats.org/drawingml/2006/main" noGrp="1"/>
          </p:cNvSpPr>
          <p:nvPr/>
        </p:nvSpPr>
        <p:spPr>
          <a:xfrm xmlns:a="http://schemas.openxmlformats.org/drawingml/2006/main">
            <a:off x="3749003" y="2025190"/>
            <a:ext cx="1920300" cy="195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A forged reading can trigger false alarms, unnecessary shutoffs, or unsafe decisions. Device and message checks prevent fake data from appearing trusted.</a:t>
            </a:r>
            <a:endParaRPr sz="1100" b="0" i="0" u="none" cap="none">
              <a:solidFill>
                <a:srgbClr val="666666"/>
              </a:solidFill>
              <a:latin typeface="Inter"/>
              <a:ea typeface="Inter"/>
              <a:cs typeface="Inter"/>
            </a:endParaRPr>
          </a:p>
        </p:txBody>
      </p:sp>
      <p:sp>
        <p:nvSpPr>
          <p:cNvPr id="101" name="Google Shape;101;p14">
            <a:extLst xmlns:a="http://schemas.openxmlformats.org/drawingml/2006/main">
              <a:ext uri="{FF2B5EF4-FFF2-40B4-BE49-F238E27FC236}">
                <a16:creationId xmlns:a16="http://schemas.microsoft.com/office/drawing/2014/main" id="{BBFFCBC3-6FBC-4801-8C43-1740A6ABF637}"/>
              </a:ext>
            </a:extLst>
          </p:cNvPr>
          <p:cNvSpPr>
            <a:spLocks xmlns:a="http://schemas.openxmlformats.org/drawingml/2006/main" noGrp="1"/>
          </p:cNvSpPr>
          <p:nvPr/>
        </p:nvSpPr>
        <p:spPr>
          <a:xfrm xmlns:a="http://schemas.openxmlformats.org/drawingml/2006/main">
            <a:off x="6126479" y="1645920"/>
            <a:ext cx="2286000" cy="228600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A78BFA">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02" name="Google Shape;102;p14">
            <a:extLst xmlns:a="http://schemas.openxmlformats.org/drawingml/2006/main">
              <a:ext uri="{FF2B5EF4-FFF2-40B4-BE49-F238E27FC236}">
                <a16:creationId xmlns:a16="http://schemas.microsoft.com/office/drawing/2014/main" id="{0BA65645-E600-47AE-8AC8-18A56567B79A}"/>
              </a:ext>
            </a:extLst>
          </p:cNvPr>
          <p:cNvSpPr>
            <a:spLocks xmlns:a="http://schemas.openxmlformats.org/drawingml/2006/main" noGrp="1"/>
          </p:cNvSpPr>
          <p:nvPr/>
        </p:nvSpPr>
        <p:spPr>
          <a:xfrm xmlns:a="http://schemas.openxmlformats.org/drawingml/2006/main">
            <a:off x="6309359" y="1828800"/>
            <a:ext cx="1920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A78BFA"/>
                </a:solidFill>
                <a:latin typeface="Inter"/>
                <a:ea typeface="Inter"/>
                <a:cs typeface="Inter"/>
              </a:defRPr>
            </a:pPr>
            <a:r>
              <a:rPr sz="1425" b="1" i="0" u="none" cap="none">
                <a:solidFill>
                  <a:srgbClr val="A78BFA"/>
                </a:solidFill>
                <a:latin typeface="Inter"/>
                <a:ea typeface="Inter"/>
                <a:cs typeface="Inter"/>
              </a:rPr>
              <a:t>Replay Attacks</a:t>
            </a:r>
            <a:endParaRPr/>
          </a:p>
        </p:txBody>
      </p:sp>
      <p:sp>
        <p:nvSpPr>
          <p:cNvPr id="103" name="Google Shape;103;p14">
            <a:extLst xmlns:a="http://schemas.openxmlformats.org/drawingml/2006/main">
              <a:ext uri="{FF2B5EF4-FFF2-40B4-BE49-F238E27FC236}">
                <a16:creationId xmlns:a16="http://schemas.microsoft.com/office/drawing/2014/main" id="{3BD4A235-B70F-4BFA-AB6E-16525624E2F1}"/>
              </a:ext>
            </a:extLst>
          </p:cNvPr>
          <p:cNvSpPr>
            <a:spLocks xmlns:a="http://schemas.openxmlformats.org/drawingml/2006/main" noGrp="1"/>
          </p:cNvSpPr>
          <p:nvPr/>
        </p:nvSpPr>
        <p:spPr>
          <a:xfrm xmlns:a="http://schemas.openxmlformats.org/drawingml/2006/main">
            <a:off x="6309359" y="2194540"/>
            <a:ext cx="1920300" cy="1798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An attacker can resend an old valid reading to hide a new leak or pressure spike. Freshness checks reject stale, duplicate, and out-of-order data.</a:t>
            </a:r>
            <a:endParaRPr sz="1100" b="0" i="0" u="none" cap="none">
              <a:solidFill>
                <a:srgbClr val="666666"/>
              </a:solidFill>
              <a:latin typeface="Inter"/>
              <a:ea typeface="Inter"/>
              <a:cs typeface="Inter"/>
            </a:endParaRPr>
          </a:p>
        </p:txBody>
      </p:sp>
      <p:sp>
        <p:nvSpPr>
          <p:cNvPr id="104" name="Google Shape;104;p14">
            <a:extLst xmlns:a="http://schemas.openxmlformats.org/drawingml/2006/main">
              <a:ext uri="{FF2B5EF4-FFF2-40B4-BE49-F238E27FC236}">
                <a16:creationId xmlns:a16="http://schemas.microsoft.com/office/drawing/2014/main" id="{BB26AC9C-E9A1-4477-BE13-AE07A33A3358}"/>
              </a:ext>
            </a:extLst>
          </p:cNvPr>
          <p:cNvSpPr>
            <a:spLocks xmlns:a="http://schemas.openxmlformats.org/drawingml/2006/main" noGrp="1"/>
          </p:cNvSpPr>
          <p:nvPr/>
        </p:nvSpPr>
        <p:spPr>
          <a:xfrm xmlns:a="http://schemas.openxmlformats.org/drawingml/2006/main">
            <a:off x="1005840" y="4502365"/>
            <a:ext cx="7772400" cy="6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125" b="1" i="0">
                <a:solidFill>
                  <a:srgbClr val="87EBC7"/>
                </a:solidFill>
                <a:latin typeface="Inter"/>
                <a:ea typeface="Inter"/>
                <a:cs typeface="Inter"/>
              </a:defRPr>
            </a:pPr>
            <a:r>
              <a:rPr sz="1125" b="1" i="0" u="none" cap="none">
                <a:solidFill>
                  <a:srgbClr val="87EBC7"/>
                </a:solidFill>
                <a:latin typeface="Inter"/>
                <a:ea typeface="Inter"/>
                <a:cs typeface="Inter"/>
              </a:rPr>
              <a:t>Business impact: compromised telemetry can disrupt service, damage property, and undermine guest trust.</a:t>
            </a:r>
            <a:endParaRPr sz="1100" b="1" i="0" u="none" cap="none">
              <a:solidFill>
                <a:srgbClr val="FF2600"/>
              </a:solidFill>
              <a:latin typeface="Inter"/>
              <a:ea typeface="Inter"/>
              <a:cs typeface="Inter"/>
            </a:endParaRPr>
          </a:p>
        </p:txBody>
      </p:sp>
    </p:spTree>
    <p:extLst>
      <p:ext uri="{BB962C8B-B14F-4D97-AF65-F5344CB8AC3E}">
        <p14:creationId xmlns:p14="http://schemas.microsoft.com/office/powerpoint/2010/main" val="2011839611"/>
      </p:ext>
    </p:extLst>
  </p:cSld>
</p:sld>
</file>

<file path=ppt/slides/slide3.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09" name="Google Shape;109;p15">
            <a:extLst xmlns:a="http://schemas.openxmlformats.org/drawingml/2006/main">
              <a:ext uri="{FF2B5EF4-FFF2-40B4-BE49-F238E27FC236}">
                <a16:creationId xmlns:a16="http://schemas.microsoft.com/office/drawing/2014/main" id="{3C2113C3-C4DF-42A8-BB8A-267D3F9EDFB4}"/>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02</a:t>
            </a:r>
            <a:endParaRPr/>
          </a:p>
        </p:txBody>
      </p:sp>
      <p:sp>
        <p:nvSpPr>
          <p:cNvPr id="110" name="Google Shape;110;p15">
            <a:extLst xmlns:a="http://schemas.openxmlformats.org/drawingml/2006/main">
              <a:ext uri="{FF2B5EF4-FFF2-40B4-BE49-F238E27FC236}">
                <a16:creationId xmlns:a16="http://schemas.microsoft.com/office/drawing/2014/main" id="{E3AF308D-D006-42EC-92A6-A0AA4EE58FFE}"/>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Four Defenses Close Four Different Security Gaps</a:t>
            </a:r>
            <a:endParaRPr/>
          </a:p>
        </p:txBody>
      </p:sp>
      <p:sp>
        <p:nvSpPr>
          <p:cNvPr id="111" name="Google Shape;111;p15">
            <a:extLst xmlns:a="http://schemas.openxmlformats.org/drawingml/2006/main">
              <a:ext uri="{FF2B5EF4-FFF2-40B4-BE49-F238E27FC236}">
                <a16:creationId xmlns:a16="http://schemas.microsoft.com/office/drawing/2014/main" id="{603FBDAB-7EB7-49C8-AAD7-1CF8EF3C765E}"/>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Each layer proves a different part of trust: a private connection, an approved device, an unchanged message, and a current reading.</a:t>
            </a:r>
            <a:endParaRPr/>
          </a:p>
        </p:txBody>
      </p:sp>
      <p:sp>
        <p:nvSpPr>
          <p:cNvPr id="112" name="Google Shape;112;p15">
            <a:extLst xmlns:a="http://schemas.openxmlformats.org/drawingml/2006/main">
              <a:ext uri="{FF2B5EF4-FFF2-40B4-BE49-F238E27FC236}">
                <a16:creationId xmlns:a16="http://schemas.microsoft.com/office/drawing/2014/main" id="{A6589C9C-FD4D-46B9-8412-64701CFC6CD6}"/>
              </a:ext>
            </a:extLst>
          </p:cNvPr>
          <p:cNvSpPr>
            <a:spLocks xmlns:a="http://schemas.openxmlformats.org/drawingml/2006/main" noGrp="1"/>
          </p:cNvSpPr>
          <p:nvPr/>
        </p:nvSpPr>
        <p:spPr>
          <a:xfrm xmlns:a="http://schemas.openxmlformats.org/drawingml/2006/main">
            <a:off x="548640" y="1645920"/>
            <a:ext cx="1920240" cy="237744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4FC3F7">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13" name="Google Shape;113;p15">
            <a:extLst xmlns:a="http://schemas.openxmlformats.org/drawingml/2006/main">
              <a:ext uri="{FF2B5EF4-FFF2-40B4-BE49-F238E27FC236}">
                <a16:creationId xmlns:a16="http://schemas.microsoft.com/office/drawing/2014/main" id="{E4FAC574-83DE-4FF9-A17C-4446C855E083}"/>
              </a:ext>
            </a:extLst>
          </p:cNvPr>
          <p:cNvSpPr>
            <a:spLocks xmlns:a="http://schemas.openxmlformats.org/drawingml/2006/main" noGrp="1"/>
          </p:cNvSpPr>
          <p:nvPr/>
        </p:nvSpPr>
        <p:spPr>
          <a:xfrm xmlns:a="http://schemas.openxmlformats.org/drawingml/2006/main">
            <a:off x="1051560" y="1508760"/>
            <a:ext cx="914400" cy="27432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4FC3F7">
                <a:alpha val="70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38" b="1" i="0">
                <a:solidFill>
                  <a:srgbClr val="06131F"/>
                </a:solidFill>
                <a:latin typeface="Inter"/>
                <a:ea typeface="Inter"/>
                <a:cs typeface="Inter"/>
              </a:defRPr>
            </a:pPr>
            <a:r>
              <a:rPr sz="938" b="1" i="0" u="none" cap="none">
                <a:solidFill>
                  <a:srgbClr val="06131F"/>
                </a:solidFill>
                <a:latin typeface="Inter"/>
                <a:ea typeface="Inter"/>
                <a:cs typeface="Inter"/>
              </a:rPr>
              <a:t>Defense 1</a:t>
            </a:r>
            <a:endParaRPr/>
          </a:p>
        </p:txBody>
      </p:sp>
      <p:sp>
        <p:nvSpPr>
          <p:cNvPr id="114" name="Google Shape;114;p15">
            <a:extLst xmlns:a="http://schemas.openxmlformats.org/drawingml/2006/main">
              <a:ext uri="{FF2B5EF4-FFF2-40B4-BE49-F238E27FC236}">
                <a16:creationId xmlns:a16="http://schemas.microsoft.com/office/drawing/2014/main" id="{3BEDCD82-815C-4906-86D9-8A491B4A16FA}"/>
              </a:ext>
            </a:extLst>
          </p:cNvPr>
          <p:cNvSpPr>
            <a:spLocks xmlns:a="http://schemas.openxmlformats.org/drawingml/2006/main" noGrp="1"/>
          </p:cNvSpPr>
          <p:nvPr/>
        </p:nvSpPr>
        <p:spPr>
          <a:xfrm xmlns:a="http://schemas.openxmlformats.org/drawingml/2006/main">
            <a:off x="640155" y="1831128"/>
            <a:ext cx="17373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4FC3F7"/>
                </a:solidFill>
                <a:latin typeface="Inter"/>
                <a:ea typeface="Inter"/>
                <a:cs typeface="Inter"/>
              </a:defRPr>
            </a:pPr>
            <a:r>
              <a:rPr sz="1425" b="1" i="0" u="none" cap="none">
                <a:solidFill>
                  <a:srgbClr val="4FC3F7"/>
                </a:solidFill>
                <a:latin typeface="Inter"/>
                <a:ea typeface="Inter"/>
                <a:cs typeface="Inter"/>
              </a:rPr>
              <a:t>TLS</a:t>
            </a:r>
            <a:endParaRPr/>
          </a:p>
        </p:txBody>
      </p:sp>
      <p:sp>
        <p:nvSpPr>
          <p:cNvPr id="115" name="Google Shape;115;p15">
            <a:extLst xmlns:a="http://schemas.openxmlformats.org/drawingml/2006/main">
              <a:ext uri="{FF2B5EF4-FFF2-40B4-BE49-F238E27FC236}">
                <a16:creationId xmlns:a16="http://schemas.microsoft.com/office/drawing/2014/main" id="{3DC7D2A3-D2CA-4353-8920-51074B961E7E}"/>
              </a:ext>
            </a:extLst>
          </p:cNvPr>
          <p:cNvSpPr>
            <a:spLocks xmlns:a="http://schemas.openxmlformats.org/drawingml/2006/main" noGrp="1"/>
          </p:cNvSpPr>
          <p:nvPr/>
        </p:nvSpPr>
        <p:spPr>
          <a:xfrm xmlns:a="http://schemas.openxmlformats.org/drawingml/2006/main">
            <a:off x="640105" y="2324100"/>
            <a:ext cx="17373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945" b="0" i="0">
                <a:solidFill>
                  <a:srgbClr val="D3E2E7"/>
                </a:solidFill>
                <a:latin typeface="Inter"/>
                <a:ea typeface="Inter"/>
                <a:cs typeface="Inter"/>
              </a:defRPr>
            </a:pPr>
            <a:r>
              <a:rPr sz="945" b="0" i="0">
                <a:solidFill>
                  <a:srgbClr val="D3E2E7"/>
                </a:solidFill>
                <a:latin typeface="Inter"/>
                <a:ea typeface="Inter"/>
                <a:cs typeface="Inter"/>
              </a:rPr>
              <a:t>Encrypts traffic between the publisher, broker, and subscriber. Stops network observers from reading or changing telemetry in transit.</a:t>
            </a:r>
            <a:endParaRPr sz="1000" b="0" i="0" u="none" cap="none">
              <a:solidFill>
                <a:srgbClr val="666666"/>
              </a:solidFill>
              <a:latin typeface="Inter"/>
              <a:ea typeface="Inter"/>
              <a:cs typeface="Inter"/>
            </a:endParaRPr>
          </a:p>
        </p:txBody>
      </p:sp>
      <p:sp>
        <p:nvSpPr>
          <p:cNvPr id="116" name="Google Shape;116;p15">
            <a:extLst xmlns:a="http://schemas.openxmlformats.org/drawingml/2006/main">
              <a:ext uri="{FF2B5EF4-FFF2-40B4-BE49-F238E27FC236}">
                <a16:creationId xmlns:a16="http://schemas.microsoft.com/office/drawing/2014/main" id="{3E50B5F2-3BCD-4FCB-87D2-71C3CC510313}"/>
              </a:ext>
            </a:extLst>
          </p:cNvPr>
          <p:cNvSpPr>
            <a:spLocks xmlns:a="http://schemas.openxmlformats.org/drawingml/2006/main" noGrp="1"/>
          </p:cNvSpPr>
          <p:nvPr/>
        </p:nvSpPr>
        <p:spPr>
          <a:xfrm xmlns:a="http://schemas.openxmlformats.org/drawingml/2006/main">
            <a:off x="2468880" y="2468880"/>
            <a:ext cx="228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b="0" i="0" u="none" cap="none">
                <a:solidFill>
                  <a:srgbClr val="07A657"/>
                </a:solidFill>
                <a:latin typeface="Inter"/>
                <a:ea typeface="Inter"/>
                <a:cs typeface="Inter"/>
              </a:rPr>
              <a:t/>
            </a:r>
            <a:endParaRPr/>
          </a:p>
        </p:txBody>
      </p:sp>
      <p:sp>
        <p:nvSpPr>
          <p:cNvPr id="117" name="Google Shape;117;p15">
            <a:extLst xmlns:a="http://schemas.openxmlformats.org/drawingml/2006/main">
              <a:ext uri="{FF2B5EF4-FFF2-40B4-BE49-F238E27FC236}">
                <a16:creationId xmlns:a16="http://schemas.microsoft.com/office/drawing/2014/main" id="{94225653-8495-4BE7-866E-D57C1336A047}"/>
              </a:ext>
            </a:extLst>
          </p:cNvPr>
          <p:cNvSpPr>
            <a:spLocks xmlns:a="http://schemas.openxmlformats.org/drawingml/2006/main" noGrp="1"/>
          </p:cNvSpPr>
          <p:nvPr/>
        </p:nvSpPr>
        <p:spPr>
          <a:xfrm xmlns:a="http://schemas.openxmlformats.org/drawingml/2006/main">
            <a:off x="2697480" y="1645920"/>
            <a:ext cx="1920240" cy="237744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22C7B8">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18" name="Google Shape;118;p15">
            <a:extLst xmlns:a="http://schemas.openxmlformats.org/drawingml/2006/main">
              <a:ext uri="{FF2B5EF4-FFF2-40B4-BE49-F238E27FC236}">
                <a16:creationId xmlns:a16="http://schemas.microsoft.com/office/drawing/2014/main" id="{2744E3E6-C5AF-4C84-8302-28BE36AA14DD}"/>
              </a:ext>
            </a:extLst>
          </p:cNvPr>
          <p:cNvSpPr>
            <a:spLocks xmlns:a="http://schemas.openxmlformats.org/drawingml/2006/main" noGrp="1"/>
          </p:cNvSpPr>
          <p:nvPr/>
        </p:nvSpPr>
        <p:spPr>
          <a:xfrm xmlns:a="http://schemas.openxmlformats.org/drawingml/2006/main">
            <a:off x="3200400" y="1508760"/>
            <a:ext cx="914400" cy="27432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22C7B8">
                <a:alpha val="70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38" b="1" i="0">
                <a:solidFill>
                  <a:srgbClr val="06131F"/>
                </a:solidFill>
                <a:latin typeface="Inter"/>
                <a:ea typeface="Inter"/>
                <a:cs typeface="Inter"/>
              </a:defRPr>
            </a:pPr>
            <a:r>
              <a:rPr sz="938" b="1" i="0" u="none" cap="none">
                <a:solidFill>
                  <a:srgbClr val="06131F"/>
                </a:solidFill>
                <a:latin typeface="Inter"/>
                <a:ea typeface="Inter"/>
                <a:cs typeface="Inter"/>
              </a:rPr>
              <a:t>Defense 2</a:t>
            </a:r>
            <a:endParaRPr/>
          </a:p>
        </p:txBody>
      </p:sp>
      <p:sp>
        <p:nvSpPr>
          <p:cNvPr id="119" name="Google Shape;119;p15">
            <a:extLst xmlns:a="http://schemas.openxmlformats.org/drawingml/2006/main">
              <a:ext uri="{FF2B5EF4-FFF2-40B4-BE49-F238E27FC236}">
                <a16:creationId xmlns:a16="http://schemas.microsoft.com/office/drawing/2014/main" id="{3BC525A6-F4BE-487C-8050-5932DB6C3E58}"/>
              </a:ext>
            </a:extLst>
          </p:cNvPr>
          <p:cNvSpPr>
            <a:spLocks xmlns:a="http://schemas.openxmlformats.org/drawingml/2006/main" noGrp="1"/>
          </p:cNvSpPr>
          <p:nvPr/>
        </p:nvSpPr>
        <p:spPr>
          <a:xfrm xmlns:a="http://schemas.openxmlformats.org/drawingml/2006/main">
            <a:off x="2788945" y="1831115"/>
            <a:ext cx="17373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22C7B8"/>
                </a:solidFill>
                <a:latin typeface="Inter"/>
                <a:ea typeface="Inter"/>
                <a:cs typeface="Inter"/>
              </a:defRPr>
            </a:pPr>
            <a:r>
              <a:rPr sz="1425" b="1" i="0" u="none" cap="none">
                <a:solidFill>
                  <a:srgbClr val="22C7B8"/>
                </a:solidFill>
                <a:latin typeface="Inter"/>
                <a:ea typeface="Inter"/>
                <a:cs typeface="Inter"/>
              </a:rPr>
              <a:t>mTLS</a:t>
            </a:r>
            <a:endParaRPr/>
          </a:p>
        </p:txBody>
      </p:sp>
      <p:sp>
        <p:nvSpPr>
          <p:cNvPr id="120" name="Google Shape;120;p15">
            <a:extLst xmlns:a="http://schemas.openxmlformats.org/drawingml/2006/main">
              <a:ext uri="{FF2B5EF4-FFF2-40B4-BE49-F238E27FC236}">
                <a16:creationId xmlns:a16="http://schemas.microsoft.com/office/drawing/2014/main" id="{A8AC6BF1-5EA8-4B49-AD46-317D61AB9CB6}"/>
              </a:ext>
            </a:extLst>
          </p:cNvPr>
          <p:cNvSpPr>
            <a:spLocks xmlns:a="http://schemas.openxmlformats.org/drawingml/2006/main" noGrp="1"/>
          </p:cNvSpPr>
          <p:nvPr/>
        </p:nvSpPr>
        <p:spPr>
          <a:xfrm xmlns:a="http://schemas.openxmlformats.org/drawingml/2006/main">
            <a:off x="2788945" y="2324100"/>
            <a:ext cx="17373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945" b="0" i="0">
                <a:solidFill>
                  <a:srgbClr val="D3E2E7"/>
                </a:solidFill>
                <a:latin typeface="Inter"/>
                <a:ea typeface="Inter"/>
                <a:cs typeface="Inter"/>
              </a:defRPr>
            </a:pPr>
            <a:r>
              <a:rPr sz="945" b="0" i="0">
                <a:solidFill>
                  <a:srgbClr val="D3E2E7"/>
                </a:solidFill>
                <a:latin typeface="Inter"/>
                <a:ea typeface="Inter"/>
                <a:cs typeface="Inter"/>
              </a:rPr>
              <a:t>Both sides present trusted certificates before data is accepted. Blocks unknown devices, fake publishers, and unauthorized subscribers.</a:t>
            </a:r>
            <a:endParaRPr sz="1000" b="0" i="0" u="none" cap="none">
              <a:solidFill>
                <a:srgbClr val="666666"/>
              </a:solidFill>
              <a:latin typeface="Inter"/>
              <a:ea typeface="Inter"/>
              <a:cs typeface="Inter"/>
            </a:endParaRPr>
          </a:p>
        </p:txBody>
      </p:sp>
      <p:sp>
        <p:nvSpPr>
          <p:cNvPr id="121" name="Google Shape;121;p15">
            <a:extLst xmlns:a="http://schemas.openxmlformats.org/drawingml/2006/main">
              <a:ext uri="{FF2B5EF4-FFF2-40B4-BE49-F238E27FC236}">
                <a16:creationId xmlns:a16="http://schemas.microsoft.com/office/drawing/2014/main" id="{33BFE15A-8D72-48C8-80AE-95F341AE615C}"/>
              </a:ext>
            </a:extLst>
          </p:cNvPr>
          <p:cNvSpPr>
            <a:spLocks xmlns:a="http://schemas.openxmlformats.org/drawingml/2006/main" noGrp="1"/>
          </p:cNvSpPr>
          <p:nvPr/>
        </p:nvSpPr>
        <p:spPr>
          <a:xfrm xmlns:a="http://schemas.openxmlformats.org/drawingml/2006/main">
            <a:off x="4617720" y="2468880"/>
            <a:ext cx="228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b="0" i="0" u="none" cap="none">
                <a:solidFill>
                  <a:srgbClr val="07A657"/>
                </a:solidFill>
                <a:latin typeface="Inter"/>
                <a:ea typeface="Inter"/>
                <a:cs typeface="Inter"/>
              </a:rPr>
              <a:t/>
            </a:r>
            <a:endParaRPr/>
          </a:p>
        </p:txBody>
      </p:sp>
      <p:sp>
        <p:nvSpPr>
          <p:cNvPr id="122" name="Google Shape;122;p15">
            <a:extLst xmlns:a="http://schemas.openxmlformats.org/drawingml/2006/main">
              <a:ext uri="{FF2B5EF4-FFF2-40B4-BE49-F238E27FC236}">
                <a16:creationId xmlns:a16="http://schemas.microsoft.com/office/drawing/2014/main" id="{781BF52A-F1A9-4198-B7D7-72ADDB53268C}"/>
              </a:ext>
            </a:extLst>
          </p:cNvPr>
          <p:cNvSpPr>
            <a:spLocks xmlns:a="http://schemas.openxmlformats.org/drawingml/2006/main" noGrp="1"/>
          </p:cNvSpPr>
          <p:nvPr/>
        </p:nvSpPr>
        <p:spPr>
          <a:xfrm xmlns:a="http://schemas.openxmlformats.org/drawingml/2006/main">
            <a:off x="4846320" y="1645920"/>
            <a:ext cx="1920240" cy="237744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87EBC7">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23" name="Google Shape;123;p15">
            <a:extLst xmlns:a="http://schemas.openxmlformats.org/drawingml/2006/main">
              <a:ext uri="{FF2B5EF4-FFF2-40B4-BE49-F238E27FC236}">
                <a16:creationId xmlns:a16="http://schemas.microsoft.com/office/drawing/2014/main" id="{4D8A269D-B036-427D-B894-F8C01FD0FB00}"/>
              </a:ext>
            </a:extLst>
          </p:cNvPr>
          <p:cNvSpPr>
            <a:spLocks xmlns:a="http://schemas.openxmlformats.org/drawingml/2006/main" noGrp="1"/>
          </p:cNvSpPr>
          <p:nvPr/>
        </p:nvSpPr>
        <p:spPr>
          <a:xfrm xmlns:a="http://schemas.openxmlformats.org/drawingml/2006/main">
            <a:off x="5349240" y="1508760"/>
            <a:ext cx="914400" cy="274320"/>
          </a:xfrm>
          <a:prstGeom xmlns:a="http://schemas.openxmlformats.org/drawingml/2006/main" prst="roundRect">
            <a:avLst>
              <a:gd name="adj" fmla="val 16667"/>
            </a:avLst>
          </a:prstGeom>
          <a:solidFill xmlns:a="http://schemas.openxmlformats.org/drawingml/2006/main">
            <a:srgbClr val="87EBC7"/>
          </a:solidFill>
          <a:ln xmlns:a="http://schemas.openxmlformats.org/drawingml/2006/main" w="9525">
            <a:solidFill>
              <a:srgbClr val="87EBC7">
                <a:alpha val="70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38" b="1" i="0">
                <a:solidFill>
                  <a:srgbClr val="06131F"/>
                </a:solidFill>
                <a:latin typeface="Inter"/>
                <a:ea typeface="Inter"/>
                <a:cs typeface="Inter"/>
              </a:defRPr>
            </a:pPr>
            <a:r>
              <a:rPr sz="938" b="1" i="0" u="none" cap="none">
                <a:solidFill>
                  <a:srgbClr val="06131F"/>
                </a:solidFill>
                <a:latin typeface="Inter"/>
                <a:ea typeface="Inter"/>
                <a:cs typeface="Inter"/>
              </a:rPr>
              <a:t>Defense 3</a:t>
            </a:r>
            <a:endParaRPr/>
          </a:p>
        </p:txBody>
      </p:sp>
      <p:sp>
        <p:nvSpPr>
          <p:cNvPr id="124" name="Google Shape;124;p15">
            <a:extLst xmlns:a="http://schemas.openxmlformats.org/drawingml/2006/main">
              <a:ext uri="{FF2B5EF4-FFF2-40B4-BE49-F238E27FC236}">
                <a16:creationId xmlns:a16="http://schemas.microsoft.com/office/drawing/2014/main" id="{0B3A30BC-B82B-4027-998F-68CAFD1D00B1}"/>
              </a:ext>
            </a:extLst>
          </p:cNvPr>
          <p:cNvSpPr>
            <a:spLocks xmlns:a="http://schemas.openxmlformats.org/drawingml/2006/main" noGrp="1"/>
          </p:cNvSpPr>
          <p:nvPr/>
        </p:nvSpPr>
        <p:spPr>
          <a:xfrm xmlns:a="http://schemas.openxmlformats.org/drawingml/2006/main">
            <a:off x="4937797" y="1807090"/>
            <a:ext cx="17373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425" b="1" i="0">
                <a:solidFill>
                  <a:srgbClr val="87EBC7"/>
                </a:solidFill>
                <a:latin typeface="Inter"/>
                <a:ea typeface="Inter"/>
                <a:cs typeface="Inter"/>
              </a:defRPr>
            </a:pPr>
            <a:r>
              <a:rPr sz="1425" b="1" i="0" u="none" cap="none">
                <a:solidFill>
                  <a:srgbClr val="87EBC7"/>
                </a:solidFill>
                <a:latin typeface="Inter"/>
                <a:ea typeface="Inter"/>
                <a:cs typeface="Inter"/>
              </a:rPr>
              <a:t>HMAC</a:t>
            </a:r>
            <a:endParaRPr/>
          </a:p>
        </p:txBody>
      </p:sp>
      <p:sp>
        <p:nvSpPr>
          <p:cNvPr id="125" name="Google Shape;125;p15">
            <a:extLst xmlns:a="http://schemas.openxmlformats.org/drawingml/2006/main">
              <a:ext uri="{FF2B5EF4-FFF2-40B4-BE49-F238E27FC236}">
                <a16:creationId xmlns:a16="http://schemas.microsoft.com/office/drawing/2014/main" id="{9CECEE28-2ED9-4B71-92D0-C6CFDC136F76}"/>
              </a:ext>
            </a:extLst>
          </p:cNvPr>
          <p:cNvSpPr>
            <a:spLocks xmlns:a="http://schemas.openxmlformats.org/drawingml/2006/main" noGrp="1"/>
          </p:cNvSpPr>
          <p:nvPr/>
        </p:nvSpPr>
        <p:spPr>
          <a:xfrm xmlns:a="http://schemas.openxmlformats.org/drawingml/2006/main">
            <a:off x="4983522" y="2324100"/>
            <a:ext cx="17373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945" b="0" i="0">
                <a:solidFill>
                  <a:srgbClr val="D3E2E7"/>
                </a:solidFill>
                <a:latin typeface="Inter"/>
                <a:ea typeface="Inter"/>
                <a:cs typeface="Inter"/>
              </a:defRPr>
            </a:pPr>
            <a:r>
              <a:rPr sz="945" b="0" i="0">
                <a:solidFill>
                  <a:srgbClr val="D3E2E7"/>
                </a:solidFill>
                <a:latin typeface="Inter"/>
                <a:ea typeface="Inter"/>
                <a:cs typeface="Inter"/>
              </a:rPr>
              <a:t>Adds a keyed signature to every payload. Any change to the reading, device ID, timestamp, or sequence produces a mismatch and rejection.</a:t>
            </a:r>
            <a:endParaRPr sz="1000" b="0" i="0" u="none" cap="none">
              <a:solidFill>
                <a:srgbClr val="666666"/>
              </a:solidFill>
              <a:latin typeface="Inter"/>
              <a:ea typeface="Inter"/>
              <a:cs typeface="Inter"/>
            </a:endParaRPr>
          </a:p>
        </p:txBody>
      </p:sp>
      <p:sp>
        <p:nvSpPr>
          <p:cNvPr id="126" name="Google Shape;126;p15">
            <a:extLst xmlns:a="http://schemas.openxmlformats.org/drawingml/2006/main">
              <a:ext uri="{FF2B5EF4-FFF2-40B4-BE49-F238E27FC236}">
                <a16:creationId xmlns:a16="http://schemas.microsoft.com/office/drawing/2014/main" id="{21F1E53F-3C76-47F6-8D1B-56B087CC0C73}"/>
              </a:ext>
            </a:extLst>
          </p:cNvPr>
          <p:cNvSpPr>
            <a:spLocks xmlns:a="http://schemas.openxmlformats.org/drawingml/2006/main" noGrp="1"/>
          </p:cNvSpPr>
          <p:nvPr/>
        </p:nvSpPr>
        <p:spPr>
          <a:xfrm xmlns:a="http://schemas.openxmlformats.org/drawingml/2006/main">
            <a:off x="6766560" y="2468880"/>
            <a:ext cx="228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b="0" i="0" u="none" cap="none">
                <a:solidFill>
                  <a:srgbClr val="07A657"/>
                </a:solidFill>
                <a:latin typeface="Inter"/>
                <a:ea typeface="Inter"/>
                <a:cs typeface="Inter"/>
              </a:rPr>
              <a:t/>
            </a:r>
            <a:endParaRPr/>
          </a:p>
        </p:txBody>
      </p:sp>
      <p:sp>
        <p:nvSpPr>
          <p:cNvPr id="127" name="Google Shape;127;p15">
            <a:extLst xmlns:a="http://schemas.openxmlformats.org/drawingml/2006/main">
              <a:ext uri="{FF2B5EF4-FFF2-40B4-BE49-F238E27FC236}">
                <a16:creationId xmlns:a16="http://schemas.microsoft.com/office/drawing/2014/main" id="{DC47C558-DAA5-4387-B47C-0BF982095812}"/>
              </a:ext>
            </a:extLst>
          </p:cNvPr>
          <p:cNvSpPr>
            <a:spLocks xmlns:a="http://schemas.openxmlformats.org/drawingml/2006/main" noGrp="1"/>
          </p:cNvSpPr>
          <p:nvPr/>
        </p:nvSpPr>
        <p:spPr>
          <a:xfrm xmlns:a="http://schemas.openxmlformats.org/drawingml/2006/main">
            <a:off x="6995160" y="1645920"/>
            <a:ext cx="1920240" cy="237744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14288">
            <a:solidFill>
              <a:srgbClr val="A6E2FA">
                <a:alpha val="6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28" name="Google Shape;128;p15">
            <a:extLst xmlns:a="http://schemas.openxmlformats.org/drawingml/2006/main">
              <a:ext uri="{FF2B5EF4-FFF2-40B4-BE49-F238E27FC236}">
                <a16:creationId xmlns:a16="http://schemas.microsoft.com/office/drawing/2014/main" id="{AFC325FE-CFDB-4978-846E-A4FA794DDFAC}"/>
              </a:ext>
            </a:extLst>
          </p:cNvPr>
          <p:cNvSpPr>
            <a:spLocks xmlns:a="http://schemas.openxmlformats.org/drawingml/2006/main" noGrp="1"/>
          </p:cNvSpPr>
          <p:nvPr/>
        </p:nvSpPr>
        <p:spPr>
          <a:xfrm xmlns:a="http://schemas.openxmlformats.org/drawingml/2006/main">
            <a:off x="7498080" y="1508760"/>
            <a:ext cx="914400" cy="274320"/>
          </a:xfrm>
          <a:prstGeom xmlns:a="http://schemas.openxmlformats.org/drawingml/2006/main" prst="roundRect">
            <a:avLst>
              <a:gd name="adj" fmla="val 16667"/>
            </a:avLst>
          </a:prstGeom>
          <a:solidFill xmlns:a="http://schemas.openxmlformats.org/drawingml/2006/main">
            <a:srgbClr val="A6E2FA"/>
          </a:solidFill>
          <a:ln xmlns:a="http://schemas.openxmlformats.org/drawingml/2006/main" w="9525">
            <a:solidFill>
              <a:srgbClr val="A6E2FA">
                <a:alpha val="70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38" b="1" i="0">
                <a:solidFill>
                  <a:srgbClr val="06131F"/>
                </a:solidFill>
                <a:latin typeface="Inter"/>
                <a:ea typeface="Inter"/>
                <a:cs typeface="Inter"/>
              </a:defRPr>
            </a:pPr>
            <a:r>
              <a:rPr sz="938" b="1" i="0" u="none" cap="none">
                <a:solidFill>
                  <a:srgbClr val="06131F"/>
                </a:solidFill>
                <a:latin typeface="Inter"/>
                <a:ea typeface="Inter"/>
                <a:cs typeface="Inter"/>
              </a:rPr>
              <a:t>Defense 4</a:t>
            </a:r>
            <a:endParaRPr/>
          </a:p>
        </p:txBody>
      </p:sp>
      <p:sp>
        <p:nvSpPr>
          <p:cNvPr id="129" name="Google Shape;129;p15">
            <a:extLst xmlns:a="http://schemas.openxmlformats.org/drawingml/2006/main">
              <a:ext uri="{FF2B5EF4-FFF2-40B4-BE49-F238E27FC236}">
                <a16:creationId xmlns:a16="http://schemas.microsoft.com/office/drawing/2014/main" id="{3C62FE49-4354-48AA-B9A3-65CBCDD32B26}"/>
              </a:ext>
            </a:extLst>
          </p:cNvPr>
          <p:cNvSpPr>
            <a:spLocks xmlns:a="http://schemas.openxmlformats.org/drawingml/2006/main" noGrp="1"/>
          </p:cNvSpPr>
          <p:nvPr/>
        </p:nvSpPr>
        <p:spPr>
          <a:xfrm xmlns:a="http://schemas.openxmlformats.org/drawingml/2006/main">
            <a:off x="6995150" y="1879200"/>
            <a:ext cx="1920300" cy="5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140" b="1" i="0">
                <a:solidFill>
                  <a:srgbClr val="A6E2FA"/>
                </a:solidFill>
                <a:latin typeface="Inter"/>
                <a:ea typeface="Inter"/>
                <a:cs typeface="Inter"/>
              </a:defRPr>
            </a:pPr>
            <a:r>
              <a:rPr sz="1140" b="1" i="0" u="none" cap="none">
                <a:solidFill>
                  <a:srgbClr val="A6E2FA"/>
                </a:solidFill>
                <a:latin typeface="Inter"/>
                <a:ea typeface="Inter"/>
                <a:cs typeface="Inter"/>
              </a:rPr>
              <a:t>Timestamp + Sequence</a:t>
            </a:r>
            <a:endParaRPr/>
          </a:p>
        </p:txBody>
      </p:sp>
      <p:sp>
        <p:nvSpPr>
          <p:cNvPr id="130" name="Google Shape;130;p15">
            <a:extLst xmlns:a="http://schemas.openxmlformats.org/drawingml/2006/main">
              <a:ext uri="{FF2B5EF4-FFF2-40B4-BE49-F238E27FC236}">
                <a16:creationId xmlns:a16="http://schemas.microsoft.com/office/drawing/2014/main" id="{AFD56C97-38DB-4B74-A67A-77182DFC373A}"/>
              </a:ext>
            </a:extLst>
          </p:cNvPr>
          <p:cNvSpPr>
            <a:spLocks xmlns:a="http://schemas.openxmlformats.org/drawingml/2006/main" noGrp="1"/>
          </p:cNvSpPr>
          <p:nvPr/>
        </p:nvSpPr>
        <p:spPr>
          <a:xfrm xmlns:a="http://schemas.openxmlformats.org/drawingml/2006/main">
            <a:off x="7086625" y="2571750"/>
            <a:ext cx="1737300" cy="1285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spcBef>
                <a:spcPts val="0"/>
              </a:spcBef>
              <a:spcAft>
                <a:spcPts val="0"/>
              </a:spcAft>
              <a:buNone/>
              <a:defRPr sz="945" b="0" i="0">
                <a:solidFill>
                  <a:srgbClr val="D3E2E7"/>
                </a:solidFill>
                <a:latin typeface="Inter"/>
                <a:ea typeface="Inter"/>
                <a:cs typeface="Inter"/>
              </a:defRPr>
            </a:pPr>
            <a:r>
              <a:rPr sz="945" b="0" i="0">
                <a:solidFill>
                  <a:srgbClr val="D3E2E7"/>
                </a:solidFill>
                <a:latin typeface="Inter"/>
                <a:ea typeface="Inter"/>
                <a:cs typeface="Inter"/>
              </a:rPr>
              <a:t>Rejects messages older than 30 seconds, duplicated, or out of order. Prevents captured valid messages from being reused.</a:t>
            </a:r>
            <a:endParaRPr sz="1000" b="0" i="0" u="none" cap="none">
              <a:solidFill>
                <a:srgbClr val="666666"/>
              </a:solidFill>
              <a:latin typeface="Inter"/>
              <a:ea typeface="Inter"/>
              <a:cs typeface="Inter"/>
            </a:endParaRPr>
          </a:p>
        </p:txBody>
      </p:sp>
      <p:sp>
        <p:nvSpPr>
          <p:cNvPr id="131" name="Google Shape;131;p15">
            <a:extLst xmlns:a="http://schemas.openxmlformats.org/drawingml/2006/main">
              <a:ext uri="{FF2B5EF4-FFF2-40B4-BE49-F238E27FC236}">
                <a16:creationId xmlns:a16="http://schemas.microsoft.com/office/drawing/2014/main" id="{22203871-88AB-45DC-8730-972BB6375C20}"/>
              </a:ext>
            </a:extLst>
          </p:cNvPr>
          <p:cNvSpPr>
            <a:spLocks xmlns:a="http://schemas.openxmlformats.org/drawingml/2006/main" noGrp="1"/>
          </p:cNvSpPr>
          <p:nvPr/>
        </p:nvSpPr>
        <p:spPr>
          <a:xfrm xmlns:a="http://schemas.openxmlformats.org/drawingml/2006/main">
            <a:off x="548640" y="4297680"/>
            <a:ext cx="80467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088" b="1" i="0">
                <a:solidFill>
                  <a:srgbClr val="87EBC7"/>
                </a:solidFill>
                <a:latin typeface="Inter"/>
                <a:ea typeface="Inter"/>
                <a:cs typeface="Inter"/>
              </a:defRPr>
            </a:pPr>
            <a:r>
              <a:rPr sz="1088" b="1" i="0" u="none" cap="none">
                <a:solidFill>
                  <a:srgbClr val="87EBC7"/>
                </a:solidFill>
                <a:latin typeface="Inter"/>
                <a:ea typeface="Inter"/>
                <a:cs typeface="Inter"/>
              </a:rPr>
              <a:t>Remove one layer and the system loses confidentiality, device trust, message integrity, or replay protection.</a:t>
            </a:r>
            <a:endParaRPr/>
          </a:p>
        </p:txBody>
      </p:sp>
    </p:spTree>
    <p:extLst>
      <p:ext uri="{BB962C8B-B14F-4D97-AF65-F5344CB8AC3E}">
        <p14:creationId xmlns:p14="http://schemas.microsoft.com/office/powerpoint/2010/main" val="1415677848"/>
      </p:ext>
    </p:extLst>
  </p:cSld>
</p:sld>
</file>

<file path=ppt/slides/slide4.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36" name="Google Shape;136;p16">
            <a:extLst xmlns:a="http://schemas.openxmlformats.org/drawingml/2006/main">
              <a:ext uri="{FF2B5EF4-FFF2-40B4-BE49-F238E27FC236}">
                <a16:creationId xmlns:a16="http://schemas.microsoft.com/office/drawing/2014/main" id="{414ECBD0-EE14-4468-B175-DF57568F729D}"/>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03</a:t>
            </a:r>
            <a:endParaRPr/>
          </a:p>
        </p:txBody>
      </p:sp>
      <p:sp>
        <p:nvSpPr>
          <p:cNvPr id="137" name="Google Shape;137;p16">
            <a:extLst xmlns:a="http://schemas.openxmlformats.org/drawingml/2006/main">
              <a:ext uri="{FF2B5EF4-FFF2-40B4-BE49-F238E27FC236}">
                <a16:creationId xmlns:a16="http://schemas.microsoft.com/office/drawing/2014/main" id="{D204F631-FC8A-440E-AE75-FE0A8DA9F6C6}"/>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625" b="1" i="0">
                <a:solidFill>
                  <a:srgbClr val="F5FCFC"/>
                </a:solidFill>
                <a:latin typeface="Inter"/>
                <a:ea typeface="Inter"/>
                <a:cs typeface="Inter"/>
              </a:defRPr>
            </a:pPr>
            <a:r>
              <a:rPr sz="2625" b="1" i="0" u="none" cap="none">
                <a:solidFill>
                  <a:srgbClr val="F5FCFC"/>
                </a:solidFill>
                <a:latin typeface="Inter"/>
                <a:ea typeface="Inter"/>
                <a:cs typeface="Inter"/>
              </a:rPr>
              <a:t>Only Validated Messages Reach the Dashboard</a:t>
            </a:r>
            <a:endParaRPr/>
          </a:p>
        </p:txBody>
      </p:sp>
      <p:sp>
        <p:nvSpPr>
          <p:cNvPr id="138" name="Google Shape;138;p16">
            <a:extLst xmlns:a="http://schemas.openxmlformats.org/drawingml/2006/main">
              <a:ext uri="{FF2B5EF4-FFF2-40B4-BE49-F238E27FC236}">
                <a16:creationId xmlns:a16="http://schemas.microsoft.com/office/drawing/2014/main" id="{3086E646-837F-4C02-B8FF-422F6F6ADFB0}"/>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Controls operate at both the connection level and the individual-message level before staff can see or act on a reading.</a:t>
            </a:r>
            <a:endParaRPr/>
          </a:p>
        </p:txBody>
      </p:sp>
      <p:sp>
        <p:nvSpPr>
          <p:cNvPr id="139" name="Google Shape;139;p16">
            <a:extLst xmlns:a="http://schemas.openxmlformats.org/drawingml/2006/main">
              <a:ext uri="{FF2B5EF4-FFF2-40B4-BE49-F238E27FC236}">
                <a16:creationId xmlns:a16="http://schemas.microsoft.com/office/drawing/2014/main" id="{855F0121-46B1-42CE-B40A-B1696072AFB0}"/>
              </a:ext>
            </a:extLst>
          </p:cNvPr>
          <p:cNvSpPr>
            <a:spLocks xmlns:a="http://schemas.openxmlformats.org/drawingml/2006/main" noGrp="1"/>
          </p:cNvSpPr>
          <p:nvPr/>
        </p:nvSpPr>
        <p:spPr>
          <a:xfrm xmlns:a="http://schemas.openxmlformats.org/drawingml/2006/main">
            <a:off x="685800" y="1428750"/>
            <a:ext cx="3476625" cy="3333750"/>
          </a:xfrm>
          <a:prstGeom xmlns:a="http://schemas.openxmlformats.org/drawingml/2006/main" prst="roundRect">
            <a:avLst>
              <a:gd name="adj" fmla="val 16667"/>
            </a:avLst>
          </a:prstGeom>
          <a:solidFill xmlns:a="http://schemas.openxmlformats.org/drawingml/2006/main">
            <a:srgbClr val="173F4D">
              <a:alpha val="88000"/>
            </a:srgbClr>
          </a:solidFill>
          <a:ln xmlns:a="http://schemas.openxmlformats.org/drawingml/2006/main" w="14288">
            <a:solidFill>
              <a:srgbClr val="22C7B8">
                <a:alpha val="65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190500" tIns="152400" rIns="190500" bIns="1524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SENSOR PUBLISHER</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Creates pressure and flow readings</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Adds timestamp, sequence, and HMAC</a:t>
            </a:r>
            <a:endParaRPr/>
          </a:p>
          <a:p xmlns:a="http://schemas.openxmlformats.org/drawingml/2006/main">
            <a:pPr marL="0" marR="0" lvl="0" indent="0" algn="ctr">
              <a:spcBef>
                <a:spcPts val="0"/>
              </a:spcBef>
              <a:spcAft>
                <a:spcPts val="0"/>
              </a:spcAft>
              <a:buNone/>
            </a:pPr>
            <a:r>
              <a:rPr sz="1100" b="0" i="1" u="none" cap="none">
                <a:solidFill>
                  <a:srgbClr val="666666"/>
                </a:solidFill>
                <a:latin typeface="Inter"/>
                <a:ea typeface="Inter"/>
                <a:cs typeface="Inter"/>
              </a:rPr>
              <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MOSQUITTO BROKER</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Encrypts traffic with TLS</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Verifies the device certificate with mTLS</a:t>
            </a:r>
            <a:endParaRPr/>
          </a:p>
          <a:p xmlns:a="http://schemas.openxmlformats.org/drawingml/2006/main">
            <a:pPr marL="0" marR="0" lvl="0" indent="0" algn="ctr">
              <a:spcBef>
                <a:spcPts val="0"/>
              </a:spcBef>
              <a:spcAft>
                <a:spcPts val="0"/>
              </a:spcAft>
              <a:buNone/>
            </a:pPr>
            <a:r>
              <a:rPr sz="1100" b="0" i="1" u="none" cap="none">
                <a:solidFill>
                  <a:srgbClr val="666666"/>
                </a:solidFill>
                <a:latin typeface="Inter"/>
                <a:ea typeface="Inter"/>
                <a:cs typeface="Inter"/>
              </a:rPr>
              <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SECURE SUBSCRIBER</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Rebuilds and compares the HMAC</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Checks message age and sequence order</a:t>
            </a:r>
            <a:endParaRPr/>
          </a:p>
          <a:p xmlns:a="http://schemas.openxmlformats.org/drawingml/2006/main">
            <a:pPr marL="0" marR="0" lvl="0" indent="0" algn="ctr">
              <a:spcBef>
                <a:spcPts val="0"/>
              </a:spcBef>
              <a:spcAft>
                <a:spcPts val="0"/>
              </a:spcAft>
              <a:buNone/>
            </a:pPr>
            <a:r>
              <a:rPr sz="1100" b="0" i="1" u="none" cap="none">
                <a:solidFill>
                  <a:srgbClr val="666666"/>
                </a:solidFill>
                <a:latin typeface="Inter"/>
                <a:ea typeface="Inter"/>
                <a:cs typeface="Inter"/>
              </a:rPr>
              <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DASHBOARD</a:t>
            </a:r>
            <a:endParaRPr/>
          </a:p>
          <a:p xmlns:a="http://schemas.openxmlformats.org/drawingml/2006/main">
            <a:pPr marL="0" marR="0" lvl="0" indent="0" algn="l">
              <a:spcBef>
                <a:spcPts val="0"/>
              </a:spcBef>
              <a:spcAft>
                <a:spcPts val="0"/>
              </a:spcAft>
              <a:buNone/>
              <a:defRPr sz="1005" b="0" i="0">
                <a:solidFill>
                  <a:srgbClr val="F5FCFC"/>
                </a:solidFill>
                <a:latin typeface="Inter"/>
                <a:ea typeface="Inter"/>
                <a:cs typeface="Inter"/>
              </a:defRPr>
            </a:pPr>
            <a:r>
              <a:rPr sz="1005" b="0" i="0" u="none" cap="none">
                <a:solidFill>
                  <a:srgbClr val="F5FCFC"/>
                </a:solidFill>
                <a:latin typeface="Inter"/>
                <a:ea typeface="Inter"/>
                <a:cs typeface="Inter"/>
              </a:rPr>
              <a:t>Updates telemetry or records the rejection</a:t>
            </a:r>
            <a:endParaRPr/>
          </a:p>
        </p:txBody>
      </p:sp>
      <p:sp>
        <p:nvSpPr>
          <p:cNvPr id="140" name="Google Shape;140;p16">
            <a:extLst xmlns:a="http://schemas.openxmlformats.org/drawingml/2006/main">
              <a:ext uri="{FF2B5EF4-FFF2-40B4-BE49-F238E27FC236}">
                <a16:creationId xmlns:a16="http://schemas.microsoft.com/office/drawing/2014/main" id="{490D84C9-B4DE-43C9-812D-4844C3C77DAF}"/>
              </a:ext>
            </a:extLst>
          </p:cNvPr>
          <p:cNvSpPr>
            <a:spLocks xmlns:a="http://schemas.openxmlformats.org/drawingml/2006/main" noGrp="1"/>
          </p:cNvSpPr>
          <p:nvPr/>
        </p:nvSpPr>
        <p:spPr>
          <a:xfrm xmlns:a="http://schemas.openxmlformats.org/drawingml/2006/main">
            <a:off x="4672680" y="1234443"/>
            <a:ext cx="3931800" cy="35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725" b="1" i="0">
                <a:solidFill>
                  <a:srgbClr val="87EBC7"/>
                </a:solidFill>
                <a:latin typeface="Inter"/>
                <a:ea typeface="Inter"/>
                <a:cs typeface="Inter"/>
              </a:defRPr>
            </a:pPr>
            <a:r>
              <a:rPr sz="1725" b="1" i="0" u="none" cap="none">
                <a:solidFill>
                  <a:srgbClr val="87EBC7"/>
                </a:solidFill>
                <a:latin typeface="Inter"/>
                <a:ea typeface="Inter"/>
                <a:cs typeface="Inter"/>
              </a:rPr>
              <a:t>Validation Flow</a:t>
            </a:r>
            <a:endParaRPr/>
          </a:p>
        </p:txBody>
      </p:sp>
      <p:sp>
        <p:nvSpPr>
          <p:cNvPr id="141" name="Google Shape;141;p16">
            <a:extLst xmlns:a="http://schemas.openxmlformats.org/drawingml/2006/main">
              <a:ext uri="{FF2B5EF4-FFF2-40B4-BE49-F238E27FC236}">
                <a16:creationId xmlns:a16="http://schemas.microsoft.com/office/drawing/2014/main" id="{CF576854-C56F-4410-9BC3-C521E0D5FD79}"/>
              </a:ext>
            </a:extLst>
          </p:cNvPr>
          <p:cNvSpPr>
            <a:spLocks xmlns:a="http://schemas.openxmlformats.org/drawingml/2006/main" noGrp="1"/>
          </p:cNvSpPr>
          <p:nvPr/>
        </p:nvSpPr>
        <p:spPr>
          <a:xfrm xmlns:a="http://schemas.openxmlformats.org/drawingml/2006/main">
            <a:off x="4619625" y="1571625"/>
            <a:ext cx="3857625" cy="3143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lvl="0" indent="0" algn="l">
              <a:lnSpc>
                <a:spcPct val="115000"/>
              </a:lnSpc>
              <a:spcBef>
                <a:spcPts val="1200"/>
              </a:spcBef>
              <a:spcAft>
                <a:spcPts val="0"/>
              </a:spcAft>
              <a:buSzPts val="1100"/>
              <a:buNone/>
              <a:defRPr sz="1140" b="0" i="0">
                <a:solidFill>
                  <a:srgbClr val="D3E2E7"/>
                </a:solidFill>
                <a:latin typeface="Inter"/>
                <a:ea typeface="Inter"/>
                <a:cs typeface="Inter"/>
              </a:defRPr>
            </a:pPr>
            <a:r>
              <a:rPr sz="1140" b="0" i="0">
                <a:solidFill>
                  <a:srgbClr val="D3E2E7"/>
                </a:solidFill>
                <a:latin typeface="Inter"/>
                <a:ea typeface="Inter"/>
                <a:cs typeface="Inter"/>
              </a:rPr>
              <a:t>1. Connection trust — TLS encrypts the session; mTLS accepts only approved certificates.</a:t>
            </a:r>
            <a:endParaRPr sz="1100">
              <a:solidFill>
                <a:srgbClr val="666666"/>
              </a:solidFill>
              <a:latin typeface="Inter"/>
              <a:ea typeface="Inter"/>
              <a:cs typeface="Inter"/>
            </a:endParaRPr>
          </a:p>
          <a:p xmlns:a="http://schemas.openxmlformats.org/drawingml/2006/main">
            <a:pPr marL="0" lvl="0" indent="0" algn="l">
              <a:lnSpc>
                <a:spcPct val="115000"/>
              </a:lnSpc>
              <a:spcBef>
                <a:spcPts val="1200"/>
              </a:spcBef>
              <a:spcAft>
                <a:spcPts val="0"/>
              </a:spcAft>
              <a:buSzPts val="1100"/>
              <a:buNone/>
            </a:pPr>
            <a:r>
              <a:rPr sz="1100">
                <a:solidFill>
                  <a:srgbClr val="666666"/>
                </a:solidFill>
                <a:latin typeface="Inter"/>
                <a:ea typeface="Inter"/>
                <a:cs typeface="Inter"/>
              </a:rPr>
              <a:t/>
            </a:r>
            <a:endParaRPr sz="1100">
              <a:solidFill>
                <a:srgbClr val="666666"/>
              </a:solidFill>
              <a:latin typeface="Inter"/>
              <a:ea typeface="Inter"/>
              <a:cs typeface="Inter"/>
            </a:endParaRPr>
          </a:p>
          <a:p xmlns:a="http://schemas.openxmlformats.org/drawingml/2006/main">
            <a:pPr marL="0" lvl="0" indent="0" algn="l">
              <a:lnSpc>
                <a:spcPct val="115000"/>
              </a:lnSpc>
              <a:spcBef>
                <a:spcPts val="1200"/>
              </a:spcBef>
              <a:spcAft>
                <a:spcPts val="0"/>
              </a:spcAft>
              <a:buSzPts val="1100"/>
              <a:buNone/>
              <a:defRPr sz="1140" b="0" i="0">
                <a:solidFill>
                  <a:srgbClr val="D3E2E7"/>
                </a:solidFill>
                <a:latin typeface="Inter"/>
                <a:ea typeface="Inter"/>
                <a:cs typeface="Inter"/>
              </a:defRPr>
            </a:pPr>
            <a:r>
              <a:rPr sz="1140" b="0" i="0">
                <a:solidFill>
                  <a:srgbClr val="D3E2E7"/>
                </a:solidFill>
                <a:latin typeface="Inter"/>
                <a:ea typeface="Inter"/>
                <a:cs typeface="Inter"/>
              </a:rPr>
              <a:t>2. Message integrity — HMAC confirms that protected fields were not changed after publishing.</a:t>
            </a:r>
            <a:endParaRPr sz="1100">
              <a:solidFill>
                <a:srgbClr val="666666"/>
              </a:solidFill>
              <a:latin typeface="Inter"/>
              <a:ea typeface="Inter"/>
              <a:cs typeface="Inter"/>
            </a:endParaRPr>
          </a:p>
          <a:p xmlns:a="http://schemas.openxmlformats.org/drawingml/2006/main">
            <a:pPr marL="0" lvl="0" indent="0" algn="l">
              <a:lnSpc>
                <a:spcPct val="115000"/>
              </a:lnSpc>
              <a:spcBef>
                <a:spcPts val="1200"/>
              </a:spcBef>
              <a:spcAft>
                <a:spcPts val="0"/>
              </a:spcAft>
              <a:buSzPts val="1100"/>
              <a:buNone/>
            </a:pPr>
            <a:r>
              <a:rPr sz="1100">
                <a:solidFill>
                  <a:srgbClr val="666666"/>
                </a:solidFill>
                <a:latin typeface="Inter"/>
                <a:ea typeface="Inter"/>
                <a:cs typeface="Inter"/>
              </a:rPr>
              <a:t/>
            </a:r>
            <a:endParaRPr sz="1100">
              <a:solidFill>
                <a:srgbClr val="666666"/>
              </a:solidFill>
              <a:latin typeface="Inter"/>
              <a:ea typeface="Inter"/>
              <a:cs typeface="Inter"/>
            </a:endParaRPr>
          </a:p>
          <a:p xmlns:a="http://schemas.openxmlformats.org/drawingml/2006/main">
            <a:pPr marL="0" lvl="0" indent="0" algn="l">
              <a:spcBef>
                <a:spcPts val="1200"/>
              </a:spcBef>
              <a:spcAft>
                <a:spcPts val="0"/>
              </a:spcAft>
              <a:buClr>
                <a:schemeClr val="dk1"/>
              </a:buClr>
              <a:buSzPts val="1100"/>
              <a:buFont typeface="Arial"/>
              <a:buNone/>
              <a:defRPr sz="1140" b="0" i="0">
                <a:solidFill>
                  <a:srgbClr val="D3E2E7"/>
                </a:solidFill>
                <a:latin typeface="Inter"/>
                <a:ea typeface="Inter"/>
                <a:cs typeface="Inter"/>
              </a:defRPr>
            </a:pPr>
            <a:r>
              <a:rPr sz="1140" b="0" i="0">
                <a:solidFill>
                  <a:srgbClr val="D3E2E7"/>
                </a:solidFill>
                <a:latin typeface="Inter"/>
                <a:ea typeface="Inter"/>
                <a:cs typeface="Inter"/>
              </a:rPr>
              <a:t>3. Freshness — Messages older than 30 seconds, duplicated, or out of order are rejected.</a:t>
            </a:r>
            <a:endParaRPr sz="1100">
              <a:solidFill>
                <a:srgbClr val="666666"/>
              </a:solidFill>
              <a:latin typeface="Inter"/>
              <a:ea typeface="Inter"/>
              <a:cs typeface="Inter"/>
            </a:endParaRPr>
          </a:p>
          <a:p xmlns:a="http://schemas.openxmlformats.org/drawingml/2006/main">
            <a:pPr marL="0" marR="0" lvl="0" indent="0" algn="l">
              <a:spcBef>
                <a:spcPts val="0"/>
              </a:spcBef>
              <a:spcAft>
                <a:spcPts val="0"/>
              </a:spcAft>
              <a:buNone/>
            </a:pPr>
            <a:r>
              <a:t/>
            </a:r>
            <a:endParaRPr sz="1100">
              <a:solidFill>
                <a:srgbClr val="666666"/>
              </a:solidFill>
              <a:latin typeface="Inter"/>
              <a:ea typeface="Inter"/>
              <a:cs typeface="Inter"/>
            </a:endParaRPr>
          </a:p>
          <a:p xmlns:a="http://schemas.openxmlformats.org/drawingml/2006/main">
            <a:pPr marL="0" marR="0" lvl="0" indent="0" algn="l">
              <a:spcBef>
                <a:spcPts val="0"/>
              </a:spcBef>
              <a:spcAft>
                <a:spcPts val="0"/>
              </a:spcAft>
              <a:buNone/>
              <a:defRPr sz="1140" b="0" i="0">
                <a:solidFill>
                  <a:srgbClr val="D3E2E7"/>
                </a:solidFill>
                <a:latin typeface="Inter"/>
                <a:ea typeface="Inter"/>
                <a:cs typeface="Inter"/>
              </a:defRPr>
            </a:pPr>
            <a:r>
              <a:rPr sz="1140" b="0" i="0">
                <a:solidFill>
                  <a:srgbClr val="D3E2E7"/>
                </a:solidFill>
                <a:latin typeface="Inter"/>
                <a:ea typeface="Inter"/>
                <a:cs typeface="Inter"/>
              </a:rPr>
              <a:t>4. Visible outcome — Valid data updates the gauges; rejected data is logged with the failure reason.</a:t>
            </a:r>
            <a:endParaRPr sz="1100">
              <a:solidFill>
                <a:srgbClr val="666666"/>
              </a:solidFill>
              <a:latin typeface="Inter"/>
              <a:ea typeface="Inter"/>
              <a:cs typeface="Inter"/>
            </a:endParaRPr>
          </a:p>
        </p:txBody>
      </p:sp>
    </p:spTree>
    <p:extLst>
      <p:ext uri="{BB962C8B-B14F-4D97-AF65-F5344CB8AC3E}">
        <p14:creationId xmlns:p14="http://schemas.microsoft.com/office/powerpoint/2010/main" val="626052365"/>
      </p:ext>
    </p:extLst>
  </p:cSld>
</p:sld>
</file>

<file path=ppt/slides/slide5.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47" name="Google Shape;147;p17">
            <a:extLst xmlns:a="http://schemas.openxmlformats.org/drawingml/2006/main">
              <a:ext uri="{FF2B5EF4-FFF2-40B4-BE49-F238E27FC236}">
                <a16:creationId xmlns:a16="http://schemas.microsoft.com/office/drawing/2014/main" id="{EE1F0F0B-1B5A-46C2-A94D-2BB02F61AAAE}"/>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04</a:t>
            </a:r>
            <a:endParaRPr/>
          </a:p>
        </p:txBody>
      </p:sp>
      <p:sp>
        <p:nvSpPr>
          <p:cNvPr id="148" name="Google Shape;148;p17">
            <a:extLst xmlns:a="http://schemas.openxmlformats.org/drawingml/2006/main">
              <a:ext uri="{FF2B5EF4-FFF2-40B4-BE49-F238E27FC236}">
                <a16:creationId xmlns:a16="http://schemas.microsoft.com/office/drawing/2014/main" id="{D780A04F-DB5C-4F69-A26D-F7FCDF2FF463}"/>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Combined Defenses Blocked Every Tested Attack</a:t>
            </a:r>
            <a:endParaRPr/>
          </a:p>
        </p:txBody>
      </p:sp>
      <p:sp>
        <p:nvSpPr>
          <p:cNvPr id="149" name="Google Shape;149;p17">
            <a:extLst xmlns:a="http://schemas.openxmlformats.org/drawingml/2006/main">
              <a:ext uri="{FF2B5EF4-FFF2-40B4-BE49-F238E27FC236}">
                <a16:creationId xmlns:a16="http://schemas.microsoft.com/office/drawing/2014/main" id="{378732FA-4862-4780-AF85-102806DF7403}"/>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Each attack was stopped by the control designed for that failure mode, and no malicious reading reached the operational view.</a:t>
            </a:r>
            <a:endParaRPr/>
          </a:p>
        </p:txBody>
      </p:sp>
      <p:graphicFrame>
        <p:nvGraphicFramePr>
          <p:cNvPr id="156" name="Google Shape;150;p17"/>
          <p:cNvGraphicFramePr/>
          <p:nvPr/>
        </p:nvGraphicFramePr>
        <p:xfrm>
          <a:off xmlns:a="http://schemas.openxmlformats.org/drawingml/2006/main" x="548640" y="1554480"/>
          <a:ext xmlns:a="http://schemas.openxmlformats.org/drawingml/2006/main" cx="3000000" cy="3000000"/>
        </p:xfrm>
        <a:graphic xmlns:a="http://schemas.openxmlformats.org/drawingml/2006/main">
          <a:graphicData uri="http://schemas.openxmlformats.org/drawingml/2006/table">
            <a:tbl>
              <a:tblPr firstRow="1" bandRow="1">
                <a:tableStyleId>{3D32B422-EDB1-4FC4-915F-B01DFFAEFE42}</a:tableStyleId>
              </a:tblPr>
              <a:tblGrid>
                <a:gridCol w="1645925"/>
                <a:gridCol w="2011675"/>
                <a:gridCol w="2011675"/>
                <a:gridCol w="2377450"/>
              </a:tblGrid>
              <a:tr h="365750">
                <a:tc>
                  <a:txBody>
                    <a:bodyPr/>
                    <a:lstStyle/>
                    <a:p>
                      <a:pPr marL="0" marR="0" lvl="0" indent="0" algn="l">
                        <a:spcBef>
                          <a:spcPts val="0"/>
                        </a:spcBef>
                        <a:spcAft>
                          <a:spcPts val="0"/>
                        </a:spcAft>
                        <a:buNone/>
                      </a:pPr>
                      <a:r>
                        <a:rPr sz="990" b="1" u="none" cap="none">
                          <a:solidFill>
                            <a:srgbClr val="F5FCFC"/>
                          </a:solidFill>
                          <a:latin typeface="Inter"/>
                          <a:ea typeface="Inter"/>
                          <a:cs typeface="Inter"/>
                        </a:rPr>
                        <a:t>Attack</a:t>
                      </a:r>
                      <a:endParaRPr/>
                    </a:p>
                  </a:txBody>
                  <a:tcPr marL="91450" marR="91450" marT="45725" marB="45725" anchor="ctr">
                    <a:solidFill>
                      <a:srgbClr val="176B72"/>
                    </a:solidFill>
                  </a:tcPr>
                </a:tc>
                <a:tc>
                  <a:txBody>
                    <a:bodyPr/>
                    <a:lstStyle/>
                    <a:p>
                      <a:pPr marL="0" marR="0" lvl="0" indent="0" algn="l">
                        <a:spcBef>
                          <a:spcPts val="0"/>
                        </a:spcBef>
                        <a:spcAft>
                          <a:spcPts val="0"/>
                        </a:spcAft>
                        <a:buNone/>
                      </a:pPr>
                      <a:r>
                        <a:rPr sz="990" b="1">
                          <a:solidFill>
                            <a:srgbClr val="F5FCFC"/>
                          </a:solidFill>
                          <a:latin typeface="Inter"/>
                          <a:ea typeface="Inter"/>
                          <a:cs typeface="Inter"/>
                        </a:rPr>
                        <a:t>Attacker objective</a:t>
                      </a:r>
                      <a:endParaRPr/>
                    </a:p>
                  </a:txBody>
                  <a:tcPr marL="91450" marR="91450" marT="45725" marB="45725" anchor="ctr">
                    <a:solidFill>
                      <a:srgbClr val="176B72"/>
                    </a:solidFill>
                  </a:tcPr>
                </a:tc>
                <a:tc>
                  <a:txBody>
                    <a:bodyPr/>
                    <a:lstStyle/>
                    <a:p>
                      <a:pPr marL="0" marR="0" lvl="0" indent="0" algn="l">
                        <a:spcBef>
                          <a:spcPts val="0"/>
                        </a:spcBef>
                        <a:spcAft>
                          <a:spcPts val="0"/>
                        </a:spcAft>
                        <a:buNone/>
                      </a:pPr>
                      <a:r>
                        <a:rPr sz="990" b="1">
                          <a:solidFill>
                            <a:srgbClr val="F5FCFC"/>
                          </a:solidFill>
                          <a:latin typeface="Inter"/>
                          <a:ea typeface="Inter"/>
                          <a:cs typeface="Inter"/>
                        </a:rPr>
                        <a:t>Defense chain</a:t>
                      </a:r>
                      <a:endParaRPr/>
                    </a:p>
                  </a:txBody>
                  <a:tcPr marL="91450" marR="91450" marT="45725" marB="45725" anchor="ctr">
                    <a:solidFill>
                      <a:srgbClr val="176B72"/>
                    </a:solidFill>
                  </a:tcPr>
                </a:tc>
                <a:tc>
                  <a:txBody>
                    <a:bodyPr/>
                    <a:lstStyle/>
                    <a:p>
                      <a:pPr marL="0" marR="0" lvl="0" indent="0" algn="l">
                        <a:spcBef>
                          <a:spcPts val="0"/>
                        </a:spcBef>
                        <a:spcAft>
                          <a:spcPts val="0"/>
                        </a:spcAft>
                        <a:buNone/>
                      </a:pPr>
                      <a:r>
                        <a:rPr sz="990" b="1">
                          <a:solidFill>
                            <a:srgbClr val="F5FCFC"/>
                          </a:solidFill>
                          <a:latin typeface="Inter"/>
                          <a:ea typeface="Inter"/>
                          <a:cs typeface="Inter"/>
                        </a:rPr>
                        <a:t>Evidence and outcome</a:t>
                      </a:r>
                      <a:endParaRPr/>
                    </a:p>
                  </a:txBody>
                  <a:tcPr marL="91450" marR="91450" marT="45725" marB="45725" anchor="ctr">
                    <a:solidFill>
                      <a:srgbClr val="176B72"/>
                    </a:solidFill>
                  </a:tcPr>
                </a:tc>
              </a:tr>
              <a:tr h="684950">
                <a:tc>
                  <a:txBody>
                    <a:bodyPr/>
                    <a:lstStyle/>
                    <a:p>
                      <a:pPr marL="0" marR="0" lvl="0" indent="0" algn="l">
                        <a:spcBef>
                          <a:spcPts val="0"/>
                        </a:spcBef>
                        <a:spcAft>
                          <a:spcPts val="0"/>
                        </a:spcAft>
                        <a:buNone/>
                      </a:pPr>
                      <a:r>
                        <a:rPr sz="930" b="0">
                          <a:solidFill>
                            <a:srgbClr val="D3E2E7"/>
                          </a:solidFill>
                          <a:latin typeface="Inter"/>
                          <a:ea typeface="Inter"/>
                          <a:cs typeface="Inter"/>
                        </a:rPr>
                        <a:t>Eavesdrop</a:t>
                      </a:r>
                      <a:endParaRPr/>
                    </a:p>
                  </a:txBody>
                  <a:tcPr marL="91450" marR="91450" marT="45725" marB="45725" anchor="ctr">
                    <a:solidFill>
                      <a:srgbClr val="123846"/>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Read sensor traffic and operating patterns</a:t>
                      </a:r>
                      <a:endParaRPr sz="1300">
                        <a:solidFill>
                          <a:schemeClr val="dk1"/>
                        </a:solidFill>
                        <a:latin typeface="Calibri"/>
                        <a:ea typeface="Calibri"/>
                        <a:cs typeface="Calibri"/>
                      </a:endParaRPr>
                    </a:p>
                  </a:txBody>
                  <a:tcPr marL="91450" marR="91450" marT="45725" marB="45725" anchor="ctr">
                    <a:solidFill>
                      <a:srgbClr val="123846"/>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TLS</a:t>
                      </a:r>
                      <a:endParaRPr sz="1300">
                        <a:solidFill>
                          <a:schemeClr val="dk1"/>
                        </a:solidFill>
                        <a:latin typeface="Calibri"/>
                        <a:ea typeface="Calibri"/>
                        <a:cs typeface="Calibri"/>
                      </a:endParaRPr>
                    </a:p>
                  </a:txBody>
                  <a:tcPr marL="91450" marR="91450" marT="45725" marB="45725" anchor="ctr">
                    <a:solidFill>
                      <a:srgbClr val="123846"/>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Traffic remained encrypted; readable sensor payloads were not exposed</a:t>
                      </a:r>
                      <a:endParaRPr sz="1300">
                        <a:solidFill>
                          <a:schemeClr val="dk1"/>
                        </a:solidFill>
                        <a:latin typeface="Calibri"/>
                        <a:ea typeface="Calibri"/>
                        <a:cs typeface="Calibri"/>
                      </a:endParaRPr>
                    </a:p>
                  </a:txBody>
                  <a:tcPr marL="91450" marR="91450" marT="45725" marB="45725" anchor="ctr">
                    <a:solidFill>
                      <a:srgbClr val="123846"/>
                    </a:solidFill>
                  </a:tcPr>
                </a:tc>
              </a:tr>
              <a:tr h="365750">
                <a:tc>
                  <a:txBody>
                    <a:bodyPr/>
                    <a:lstStyle/>
                    <a:p>
                      <a:pPr marL="0" marR="0" lvl="0" indent="0" algn="l">
                        <a:spcBef>
                          <a:spcPts val="0"/>
                        </a:spcBef>
                        <a:spcAft>
                          <a:spcPts val="0"/>
                        </a:spcAft>
                        <a:buNone/>
                      </a:pPr>
                      <a:r>
                        <a:rPr sz="930" b="0">
                          <a:solidFill>
                            <a:srgbClr val="D3E2E7"/>
                          </a:solidFill>
                          <a:latin typeface="Inter"/>
                          <a:ea typeface="Inter"/>
                          <a:cs typeface="Inter"/>
                        </a:rPr>
                        <a:t>Inject fake data</a:t>
                      </a:r>
                      <a:endParaRPr/>
                    </a:p>
                  </a:txBody>
                  <a:tcPr marL="91450" marR="91450" marT="45725" marB="45725" anchor="ctr">
                    <a:solidFill>
                      <a:srgbClr val="0E2E3C"/>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Make a forged pressure or flow reading look trusted</a:t>
                      </a:r>
                      <a:endParaRPr sz="1300">
                        <a:solidFill>
                          <a:schemeClr val="dk1"/>
                        </a:solidFill>
                        <a:latin typeface="Calibri"/>
                        <a:ea typeface="Calibri"/>
                        <a:cs typeface="Calibri"/>
                      </a:endParaRPr>
                    </a:p>
                  </a:txBody>
                  <a:tcPr marL="91450" marR="91450" marT="45725" marB="45725" anchor="ctr">
                    <a:solidFill>
                      <a:srgbClr val="0E2E3C"/>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mTLS + HMAC</a:t>
                      </a:r>
                      <a:endParaRPr sz="1300">
                        <a:solidFill>
                          <a:schemeClr val="dk1"/>
                        </a:solidFill>
                        <a:latin typeface="Calibri"/>
                        <a:ea typeface="Calibri"/>
                        <a:cs typeface="Calibri"/>
                      </a:endParaRPr>
                    </a:p>
                  </a:txBody>
                  <a:tcPr marL="91450" marR="91450" marT="45725" marB="45725" anchor="ctr">
                    <a:solidFill>
                      <a:srgbClr val="0E2E3C"/>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Certificate and signature checks rejected untrusted or altered data</a:t>
                      </a:r>
                      <a:endParaRPr sz="1300">
                        <a:solidFill>
                          <a:schemeClr val="dk1"/>
                        </a:solidFill>
                        <a:latin typeface="Calibri"/>
                        <a:ea typeface="Calibri"/>
                        <a:cs typeface="Calibri"/>
                      </a:endParaRPr>
                    </a:p>
                  </a:txBody>
                  <a:tcPr marL="91450" marR="91450" marT="45725" marB="45725" anchor="ctr">
                    <a:solidFill>
                      <a:srgbClr val="0E2E3C"/>
                    </a:solidFill>
                  </a:tcPr>
                </a:tc>
              </a:tr>
              <a:tr h="365750">
                <a:tc>
                  <a:txBody>
                    <a:bodyPr/>
                    <a:lstStyle/>
                    <a:p>
                      <a:pPr marL="0" marR="0" lvl="0" indent="0" algn="l">
                        <a:spcBef>
                          <a:spcPts val="0"/>
                        </a:spcBef>
                        <a:spcAft>
                          <a:spcPts val="0"/>
                        </a:spcAft>
                        <a:buNone/>
                      </a:pPr>
                      <a:r>
                        <a:rPr sz="930" b="0">
                          <a:solidFill>
                            <a:srgbClr val="D3E2E7"/>
                          </a:solidFill>
                          <a:latin typeface="Inter"/>
                          <a:ea typeface="Inter"/>
                          <a:cs typeface="Inter"/>
                        </a:rPr>
                        <a:t>Replay</a:t>
                      </a:r>
                      <a:endParaRPr/>
                    </a:p>
                  </a:txBody>
                  <a:tcPr marL="91450" marR="91450" marT="45725" marB="45725" anchor="ctr">
                    <a:solidFill>
                      <a:srgbClr val="123846"/>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Resend a previously valid reading</a:t>
                      </a:r>
                      <a:endParaRPr sz="1300"/>
                    </a:p>
                  </a:txBody>
                  <a:tcPr marL="91450" marR="91450" marT="45725" marB="45725" anchor="ctr">
                    <a:solidFill>
                      <a:srgbClr val="123846"/>
                    </a:solidFill>
                  </a:tcPr>
                </a:tc>
                <a:tc>
                  <a:txBody>
                    <a:bodyPr/>
                    <a:lstStyle/>
                    <a:p>
                      <a:pPr marL="0" lvl="0" indent="0" algn="l">
                        <a:spcBef>
                          <a:spcPts val="0"/>
                        </a:spcBef>
                        <a:spcAft>
                          <a:spcPts val="0"/>
                        </a:spcAft>
                        <a:buClr>
                          <a:schemeClr val="dk1"/>
                        </a:buClr>
                        <a:buFont typeface="Arial"/>
                        <a:buNone/>
                      </a:pPr>
                      <a:r>
                        <a:rPr sz="930" b="0">
                          <a:solidFill>
                            <a:srgbClr val="D3E2E7"/>
                          </a:solidFill>
                          <a:latin typeface="Inter"/>
                          <a:ea typeface="Inter"/>
                          <a:cs typeface="Inter"/>
                        </a:rPr>
                        <a:t>Timestamp + sequence</a:t>
                      </a:r>
                      <a:endParaRPr sz="1300"/>
                    </a:p>
                  </a:txBody>
                  <a:tcPr marL="91450" marR="91450" marT="45725" marB="45725" anchor="ctr">
                    <a:solidFill>
                      <a:srgbClr val="123846"/>
                    </a:solidFill>
                  </a:tcPr>
                </a:tc>
                <a:tc>
                  <a:txBody>
                    <a:bodyPr/>
                    <a:lstStyle/>
                    <a:p>
                      <a:pPr marL="0" marR="0" lvl="0" indent="0" algn="l">
                        <a:spcBef>
                          <a:spcPts val="0"/>
                        </a:spcBef>
                        <a:spcAft>
                          <a:spcPts val="0"/>
                        </a:spcAft>
                        <a:buNone/>
                      </a:pPr>
                      <a:r>
                        <a:rPr sz="930" b="0">
                          <a:solidFill>
                            <a:srgbClr val="D3E2E7"/>
                          </a:solidFill>
                          <a:latin typeface="Inter"/>
                          <a:ea typeface="Inter"/>
                          <a:cs typeface="Inter"/>
                        </a:rPr>
                        <a:t>Stale, duplicate, and out-of-order messages were rejected</a:t>
                      </a:r>
                      <a:endParaRPr sz="1300"/>
                    </a:p>
                  </a:txBody>
                  <a:tcPr marL="91450" marR="91450" marT="45725" marB="45725" anchor="ctr">
                    <a:solidFill>
                      <a:srgbClr val="123846"/>
                    </a:solidFill>
                  </a:tcPr>
                </a:tc>
              </a:tr>
            </a:tbl>
          </a:graphicData>
        </a:graphic>
      </p:graphicFrame>
      <p:sp>
        <p:nvSpPr>
          <p:cNvPr id="151" name="Google Shape;151;p17">
            <a:extLst xmlns:a="http://schemas.openxmlformats.org/drawingml/2006/main">
              <a:ext uri="{FF2B5EF4-FFF2-40B4-BE49-F238E27FC236}">
                <a16:creationId xmlns:a16="http://schemas.microsoft.com/office/drawing/2014/main" id="{314863BA-7EDA-4EFE-BB2F-6EE072897782}"/>
              </a:ext>
            </a:extLst>
          </p:cNvPr>
          <p:cNvSpPr>
            <a:spLocks xmlns:a="http://schemas.openxmlformats.org/drawingml/2006/main" noGrp="1"/>
          </p:cNvSpPr>
          <p:nvPr/>
        </p:nvSpPr>
        <p:spPr>
          <a:xfrm xmlns:a="http://schemas.openxmlformats.org/drawingml/2006/main">
            <a:off x="2286000" y="4238625"/>
            <a:ext cx="4572000" cy="438150"/>
          </a:xfrm>
          <a:prstGeom xmlns:a="http://schemas.openxmlformats.org/drawingml/2006/main" prst="roundRect">
            <a:avLst>
              <a:gd name="adj" fmla="val 16667"/>
            </a:avLst>
          </a:prstGeom>
          <a:gradFill xmlns:a="http://schemas.openxmlformats.org/drawingml/2006/main">
            <a:gsLst>
              <a:gs pos="0">
                <a:srgbClr val="1E8E91"/>
              </a:gs>
              <a:gs pos="52000">
                <a:srgbClr val="22C7B8"/>
              </a:gs>
              <a:gs pos="100000">
                <a:srgbClr val="4FC3F7"/>
              </a:gs>
            </a:gsLst>
            <a:lin ang="0"/>
          </a:gradFill>
          <a:ln xmlns:a="http://schemas.openxmlformats.org/drawingml/2006/main" w="9525">
            <a:solidFill>
              <a:srgbClr val="87EBC7">
                <a:alpha val="70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200" b="1" i="0">
                <a:solidFill>
                  <a:srgbClr val="06131F"/>
                </a:solidFill>
                <a:latin typeface="Inter"/>
                <a:ea typeface="Inter"/>
                <a:cs typeface="Inter"/>
              </a:defRPr>
            </a:pPr>
            <a:r>
              <a:rPr sz="1200" b="1" i="0" u="none" cap="none">
                <a:solidFill>
                  <a:srgbClr val="06131F"/>
                </a:solidFill>
                <a:latin typeface="Inter"/>
                <a:ea typeface="Inter"/>
                <a:cs typeface="Inter"/>
              </a:rPr>
              <a:t>0 of 15 attacks succeeded  |  100% blocked</a:t>
            </a:r>
            <a:endParaRPr/>
          </a:p>
        </p:txBody>
      </p:sp>
    </p:spTree>
    <p:extLst>
      <p:ext uri="{BB962C8B-B14F-4D97-AF65-F5344CB8AC3E}">
        <p14:creationId xmlns:p14="http://schemas.microsoft.com/office/powerpoint/2010/main" val="1570945368"/>
      </p:ext>
    </p:extLst>
  </p:cSld>
</p:sld>
</file>

<file path=ppt/slides/slide6.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56" name="Google Shape;156;p18">
            <a:extLst xmlns:a="http://schemas.openxmlformats.org/drawingml/2006/main">
              <a:ext uri="{FF2B5EF4-FFF2-40B4-BE49-F238E27FC236}">
                <a16:creationId xmlns:a16="http://schemas.microsoft.com/office/drawing/2014/main" id="{55B37C57-6744-40B5-A041-09C079BED9CC}"/>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05</a:t>
            </a:r>
            <a:endParaRPr/>
          </a:p>
        </p:txBody>
      </p:sp>
      <p:sp>
        <p:nvSpPr>
          <p:cNvPr id="157" name="Google Shape;157;p18">
            <a:extLst xmlns:a="http://schemas.openxmlformats.org/drawingml/2006/main">
              <a:ext uri="{FF2B5EF4-FFF2-40B4-BE49-F238E27FC236}">
                <a16:creationId xmlns:a16="http://schemas.microsoft.com/office/drawing/2014/main" id="{DAAE43BF-B667-4115-BF8A-04985680E0E6}"/>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8629"/>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The Simulator Reproduced Each Attack on Demand</a:t>
            </a:r>
            <a:endParaRPr/>
          </a:p>
        </p:txBody>
      </p:sp>
      <p:sp>
        <p:nvSpPr>
          <p:cNvPr id="158" name="Google Shape;158;p18">
            <a:extLst xmlns:a="http://schemas.openxmlformats.org/drawingml/2006/main">
              <a:ext uri="{FF2B5EF4-FFF2-40B4-BE49-F238E27FC236}">
                <a16:creationId xmlns:a16="http://schemas.microsoft.com/office/drawing/2014/main" id="{83F45150-D529-4A9F-8B82-58D8302F5074}"/>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Separate terminals reproduced eavesdropping, false-data injection, and replay attempts. Each run verified terminal rejection and dashboard logging.</a:t>
            </a:r>
            <a:endParaRPr/>
          </a:p>
        </p:txBody>
      </p:sp>
      <p:sp>
        <p:nvSpPr>
          <p:cNvPr id="159" name="Google Shape;159;p18">
            <a:extLst xmlns:a="http://schemas.openxmlformats.org/drawingml/2006/main">
              <a:ext uri="{FF2B5EF4-FFF2-40B4-BE49-F238E27FC236}">
                <a16:creationId xmlns:a16="http://schemas.microsoft.com/office/drawing/2014/main" id="{CDE8DED6-CCFA-4C46-A6A1-DD4E7E7B567B}"/>
              </a:ext>
            </a:extLst>
          </p:cNvPr>
          <p:cNvSpPr>
            <a:spLocks xmlns:a="http://schemas.openxmlformats.org/drawingml/2006/main" noGrp="1"/>
          </p:cNvSpPr>
          <p:nvPr/>
        </p:nvSpPr>
        <p:spPr>
          <a:xfrm xmlns:a="http://schemas.openxmlformats.org/drawingml/2006/main">
            <a:off x="1005840" y="1314450"/>
            <a:ext cx="3429000" cy="396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defRPr sz="1163" b="1" i="0">
                <a:solidFill>
                  <a:srgbClr val="4FC3F7"/>
                </a:solidFill>
                <a:latin typeface="Inter"/>
                <a:ea typeface="Inter"/>
                <a:cs typeface="Inter"/>
              </a:defRPr>
            </a:pPr>
            <a:r>
              <a:rPr sz="1163" b="1" i="0">
                <a:solidFill>
                  <a:srgbClr val="4FC3F7"/>
                </a:solidFill>
                <a:latin typeface="Inter"/>
                <a:ea typeface="Inter"/>
                <a:cs typeface="Inter"/>
                <a:hlinkClick xmlns:r="http://schemas.openxmlformats.org/officeDocument/2006/relationships" r:id="R9db875fd05bf46f9"/>
              </a:rPr>
              <a:t>Watch the live demonstration  →</a:t>
            </a:r>
            <a:endParaRPr/>
          </a:p>
        </p:txBody>
      </p:sp>
      <p:pic>
        <p:nvPicPr>
          <p:cNvPr id="165" name="Google Shape;160;p18"/>
          <p:cNvPicPr>
            <a:picLocks xmlns:a="http://schemas.openxmlformats.org/drawingml/2006/main" noChangeAspect="1"/>
          </p:cNvPicPr>
          <p:nvPr/>
        </p:nvPicPr>
        <p:blipFill>
          <a:blip xmlns:r="http://schemas.openxmlformats.org/officeDocument/2006/relationships" xmlns:a="http://schemas.openxmlformats.org/drawingml/2006/main" r:embed="R2229c279401c4d1c">
            <a:alphaModFix/>
          </a:blip>
          <a:stretch xmlns:a="http://schemas.openxmlformats.org/drawingml/2006/main">
            <a:fillRect l="0" t="0" r="0" b="0"/>
          </a:stretch>
        </p:blipFill>
        <p:spPr>
          <a:xfrm xmlns:a="http://schemas.openxmlformats.org/drawingml/2006/main">
            <a:off x="1714500" y="1666875"/>
            <a:ext cx="5715000" cy="3190875"/>
          </a:xfrm>
          <a:prstGeom xmlns:a="http://schemas.openxmlformats.org/drawingml/2006/main" prst="roundRect">
            <a:avLst>
              <a:gd name="adj" fmla="val 4179"/>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spTree>
    <p:extLst>
      <p:ext uri="{BB962C8B-B14F-4D97-AF65-F5344CB8AC3E}">
        <p14:creationId xmlns:p14="http://schemas.microsoft.com/office/powerpoint/2010/main" val="429899202"/>
      </p:ext>
    </p:extLst>
  </p:cSld>
</p:sld>
</file>

<file path=ppt/slides/slide7.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65" name="Google Shape;165;p19">
            <a:extLst xmlns:a="http://schemas.openxmlformats.org/drawingml/2006/main">
              <a:ext uri="{FF2B5EF4-FFF2-40B4-BE49-F238E27FC236}">
                <a16:creationId xmlns:a16="http://schemas.microsoft.com/office/drawing/2014/main" id="{68671190-61C7-48A5-AE47-D40F5627CF60}"/>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0"/>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a:solidFill>
                  <a:srgbClr val="06131F"/>
                </a:solidFill>
                <a:latin typeface="Inter"/>
                <a:ea typeface="Inter"/>
                <a:cs typeface="Inter"/>
              </a:rPr>
              <a:t>06</a:t>
            </a:r>
            <a:endParaRPr/>
          </a:p>
        </p:txBody>
      </p:sp>
      <p:sp>
        <p:nvSpPr>
          <p:cNvPr id="166" name="Google Shape;166;p19">
            <a:extLst xmlns:a="http://schemas.openxmlformats.org/drawingml/2006/main">
              <a:ext uri="{FF2B5EF4-FFF2-40B4-BE49-F238E27FC236}">
                <a16:creationId xmlns:a16="http://schemas.microsoft.com/office/drawing/2014/main" id="{295FFF0A-BCAA-461A-8D96-A1E0450A2993}"/>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a:solidFill>
                  <a:srgbClr val="F5FCFC"/>
                </a:solidFill>
                <a:latin typeface="Inter"/>
                <a:ea typeface="Inter"/>
                <a:cs typeface="Inter"/>
              </a:rPr>
              <a:t>Replay Protection Required More Than One Check</a:t>
            </a:r>
            <a:endParaRPr sz="2400">
              <a:latin typeface="DM Serif Text"/>
              <a:ea typeface="DM Serif Text"/>
              <a:cs typeface="DM Serif Text"/>
            </a:endParaRPr>
          </a:p>
        </p:txBody>
      </p:sp>
      <p:sp>
        <p:nvSpPr>
          <p:cNvPr id="167" name="Google Shape;167;p19">
            <a:extLst xmlns:a="http://schemas.openxmlformats.org/drawingml/2006/main">
              <a:ext uri="{FF2B5EF4-FFF2-40B4-BE49-F238E27FC236}">
                <a16:creationId xmlns:a16="http://schemas.microsoft.com/office/drawing/2014/main" id="{ED647679-61FB-42C5-BCE2-553A5AA62328}"/>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a:solidFill>
                  <a:srgbClr val="96AFB9"/>
                </a:solidFill>
                <a:latin typeface="Inter"/>
                <a:ea typeface="Inter"/>
                <a:cs typeface="Inter"/>
              </a:rPr>
              <a:t>Timestamp-only and sequence-only defenses each left replay variants uncovered. The complete defense chain rejected every replay tested.</a:t>
            </a:r>
            <a:endParaRPr sz="1200">
              <a:solidFill>
                <a:srgbClr val="666666"/>
              </a:solidFill>
              <a:latin typeface="Inter"/>
              <a:ea typeface="Inter"/>
              <a:cs typeface="Inter"/>
            </a:endParaRPr>
          </a:p>
        </p:txBody>
      </p:sp>
      <p:pic>
        <p:nvPicPr>
          <p:cNvPr id="172" name="Google Shape;169;p19"/>
          <p:cNvPicPr>
            <a:picLocks xmlns:a="http://schemas.openxmlformats.org/drawingml/2006/main" noChangeAspect="1"/>
          </p:cNvPicPr>
          <p:nvPr/>
        </p:nvPicPr>
        <p:blipFill>
          <a:blip xmlns:r="http://schemas.openxmlformats.org/officeDocument/2006/relationships" xmlns:a="http://schemas.openxmlformats.org/drawingml/2006/main" r:embed="Rca609619eb2f41ab">
            <a:alphaModFix/>
          </a:blip>
          <a:stretch xmlns:a="http://schemas.openxmlformats.org/drawingml/2006/main">
            <a:fillRect l="0" t="0" r="0" b="0"/>
          </a:stretch>
        </p:blipFill>
        <p:spPr>
          <a:xfrm xmlns:a="http://schemas.openxmlformats.org/drawingml/2006/main">
            <a:off x="1381125" y="1381125"/>
            <a:ext cx="6381750" cy="3476625"/>
          </a:xfrm>
          <a:prstGeom xmlns:a="http://schemas.openxmlformats.org/drawingml/2006/main" prst="roundRect">
            <a:avLst>
              <a:gd name="adj" fmla="val 3288"/>
            </a:avLst>
          </a:prstGeom>
          <a:ln xmlns:a="http://schemas.openxmlformats.org/drawingml/2006/main">
            <a:noFill/>
          </a:ln>
        </p:spPr>
      </p:pic>
    </p:spTree>
    <p:extLst>
      <p:ext uri="{BB962C8B-B14F-4D97-AF65-F5344CB8AC3E}">
        <p14:creationId xmlns:p14="http://schemas.microsoft.com/office/powerpoint/2010/main" val="1788047196"/>
      </p:ext>
    </p:extLst>
  </p:cSld>
</p:sld>
</file>

<file path=ppt/slides/slide8.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74" name="Google Shape;174;p20">
            <a:extLst xmlns:a="http://schemas.openxmlformats.org/drawingml/2006/main">
              <a:ext uri="{FF2B5EF4-FFF2-40B4-BE49-F238E27FC236}">
                <a16:creationId xmlns:a16="http://schemas.microsoft.com/office/drawing/2014/main" id="{D4DE348B-15D4-47F6-9F8C-9FC197C23A81}"/>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07</a:t>
            </a:r>
            <a:endParaRPr/>
          </a:p>
        </p:txBody>
      </p:sp>
      <p:sp>
        <p:nvSpPr>
          <p:cNvPr id="175" name="Google Shape;175;p20">
            <a:extLst xmlns:a="http://schemas.openxmlformats.org/drawingml/2006/main">
              <a:ext uri="{FF2B5EF4-FFF2-40B4-BE49-F238E27FC236}">
                <a16:creationId xmlns:a16="http://schemas.microsoft.com/office/drawing/2014/main" id="{C15149AB-BD6F-456D-8F6D-A823262C5924}"/>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8047"/>
          </a:bodyPr>
          <a:lstStyle xmlns:a="http://schemas.openxmlformats.org/drawingml/2006/main"/>
          <a:p xmlns:a="http://schemas.openxmlformats.org/drawingml/2006/main">
            <a:pPr marL="0" marR="0" lvl="0" indent="0" algn="l">
              <a:spcBef>
                <a:spcPts val="0"/>
              </a:spcBef>
              <a:spcAft>
                <a:spcPts val="0"/>
              </a:spcAft>
              <a:buNone/>
              <a:defRPr sz="2363" b="1" i="0">
                <a:solidFill>
                  <a:srgbClr val="F5FCFC"/>
                </a:solidFill>
                <a:latin typeface="Inter"/>
                <a:ea typeface="Inter"/>
                <a:cs typeface="Inter"/>
              </a:defRPr>
            </a:pPr>
            <a:r>
              <a:rPr sz="2363" b="1" i="0" u="none" cap="none">
                <a:solidFill>
                  <a:srgbClr val="F5FCFC"/>
                </a:solidFill>
                <a:latin typeface="Inter"/>
                <a:ea typeface="Inter"/>
                <a:cs typeface="Inter"/>
              </a:rPr>
              <a:t>Every Valid Message Accepted; Every Attack Rejected</a:t>
            </a:r>
            <a:endParaRPr/>
          </a:p>
        </p:txBody>
      </p:sp>
      <p:sp>
        <p:nvSpPr>
          <p:cNvPr id="176" name="Google Shape;176;p20">
            <a:extLst xmlns:a="http://schemas.openxmlformats.org/drawingml/2006/main">
              <a:ext uri="{FF2B5EF4-FFF2-40B4-BE49-F238E27FC236}">
                <a16:creationId xmlns:a16="http://schemas.microsoft.com/office/drawing/2014/main" id="{385EDFEB-7FB7-4F0D-8512-579406F7AEE0}"/>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The dashboard processed 59 messages: 54 legitimate readings updated operations, while 5 attack messages were blocked and logged without interrupting normal telemetry.</a:t>
            </a:r>
            <a:endParaRPr/>
          </a:p>
        </p:txBody>
      </p:sp>
      <p:pic>
        <p:nvPicPr>
          <p:cNvPr id="181" name="Google Shape;178;p20"/>
          <p:cNvPicPr>
            <a:picLocks xmlns:a="http://schemas.openxmlformats.org/drawingml/2006/main" noChangeAspect="1"/>
          </p:cNvPicPr>
          <p:nvPr/>
        </p:nvPicPr>
        <p:blipFill>
          <a:blip xmlns:r="http://schemas.openxmlformats.org/officeDocument/2006/relationships" xmlns:a="http://schemas.openxmlformats.org/drawingml/2006/main" r:embed="Reb78c30bc43342e4">
            <a:alphaModFix/>
          </a:blip>
          <a:stretch xmlns:a="http://schemas.openxmlformats.org/drawingml/2006/main">
            <a:fillRect l="0" t="0" r="0" b="0"/>
          </a:stretch>
        </p:blipFill>
        <p:spPr>
          <a:xfrm xmlns:a="http://schemas.openxmlformats.org/drawingml/2006/main">
            <a:off x="1619250" y="1428750"/>
            <a:ext cx="5905500" cy="3333750"/>
          </a:xfrm>
          <a:prstGeom xmlns:a="http://schemas.openxmlformats.org/drawingml/2006/main" prst="roundRect">
            <a:avLst>
              <a:gd name="adj" fmla="val 4571"/>
            </a:avLst>
          </a:prstGeom>
          <a:ln xmlns:a="http://schemas.openxmlformats.org/drawingml/2006/main" w="19050" cap="flat" cmpd="sng">
            <a:solidFill>
              <a:srgbClr val="666666"/>
            </a:solidFill>
            <a:prstDash val="dash"/>
            <a:round/>
          </a:ln>
          <a:effectLst xmlns:a="http://schemas.openxmlformats.org/drawingml/2006/main">
            <a:outerShdw blurRad="40000" dist="23000" dir="5400000" rotWithShape="0">
              <a:srgbClr val="000000">
                <a:alpha val="34900"/>
              </a:srgbClr>
            </a:outerShdw>
          </a:effectLst>
        </p:spPr>
      </p:pic>
    </p:spTree>
    <p:extLst>
      <p:ext uri="{BB962C8B-B14F-4D97-AF65-F5344CB8AC3E}">
        <p14:creationId xmlns:p14="http://schemas.microsoft.com/office/powerpoint/2010/main" val="2124372506"/>
      </p:ext>
    </p:extLst>
  </p:cSld>
</p:sld>
</file>

<file path=ppt/slides/slide9.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83" name="Google Shape;183;p21">
            <a:extLst xmlns:a="http://schemas.openxmlformats.org/drawingml/2006/main">
              <a:ext uri="{FF2B5EF4-FFF2-40B4-BE49-F238E27FC236}">
                <a16:creationId xmlns:a16="http://schemas.microsoft.com/office/drawing/2014/main" id="{053CA2C7-9A0A-4775-83C8-32FC3F32F0B5}"/>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08</a:t>
            </a:r>
            <a:endParaRPr/>
          </a:p>
        </p:txBody>
      </p:sp>
      <p:sp>
        <p:nvSpPr>
          <p:cNvPr id="184" name="Google Shape;184;p21">
            <a:extLst xmlns:a="http://schemas.openxmlformats.org/drawingml/2006/main">
              <a:ext uri="{FF2B5EF4-FFF2-40B4-BE49-F238E27FC236}">
                <a16:creationId xmlns:a16="http://schemas.microsoft.com/office/drawing/2014/main" id="{4EAAF5D4-8BF0-4AF6-8933-259F1BA8016A}"/>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550" b="1" i="0">
                <a:solidFill>
                  <a:srgbClr val="F5FCFC"/>
                </a:solidFill>
                <a:latin typeface="Inter"/>
                <a:ea typeface="Inter"/>
                <a:cs typeface="Inter"/>
              </a:defRPr>
            </a:pPr>
            <a:r>
              <a:rPr sz="2550" b="1" i="0" u="none" cap="none">
                <a:solidFill>
                  <a:srgbClr val="F5FCFC"/>
                </a:solidFill>
                <a:latin typeface="Inter"/>
                <a:ea typeface="Inter"/>
                <a:cs typeface="Inter"/>
              </a:rPr>
              <a:t>One Dashboard Unifies Security and Operations</a:t>
            </a:r>
            <a:endParaRPr/>
          </a:p>
        </p:txBody>
      </p:sp>
      <p:sp>
        <p:nvSpPr>
          <p:cNvPr id="185" name="Google Shape;185;p21">
            <a:extLst xmlns:a="http://schemas.openxmlformats.org/drawingml/2006/main">
              <a:ext uri="{FF2B5EF4-FFF2-40B4-BE49-F238E27FC236}">
                <a16:creationId xmlns:a16="http://schemas.microsoft.com/office/drawing/2014/main" id="{D92FF472-D487-40C2-824C-0CE5B89374C3}"/>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The operator sees live pressure, flow rate, gate position, device status, anomaly rules, and rejected-message evidence across three hotel zones.</a:t>
            </a:r>
            <a:endParaRPr/>
          </a:p>
        </p:txBody>
      </p:sp>
      <p:pic>
        <p:nvPicPr>
          <p:cNvPr id="190" name="Google Shape;187;p21"/>
          <p:cNvPicPr>
            <a:picLocks xmlns:a="http://schemas.openxmlformats.org/drawingml/2006/main" noChangeAspect="1"/>
          </p:cNvPicPr>
          <p:nvPr/>
        </p:nvPicPr>
        <p:blipFill>
          <a:blip xmlns:r="http://schemas.openxmlformats.org/officeDocument/2006/relationships" xmlns:a="http://schemas.openxmlformats.org/drawingml/2006/main" r:embed="R46f80496dc864aea">
            <a:alphaModFix/>
          </a:blip>
          <a:stretch xmlns:a="http://schemas.openxmlformats.org/drawingml/2006/main">
            <a:fillRect l="0" t="0" r="0" b="0"/>
          </a:stretch>
        </p:blipFill>
        <p:spPr>
          <a:xfrm xmlns:a="http://schemas.openxmlformats.org/drawingml/2006/main">
            <a:off x="1095375" y="1428750"/>
            <a:ext cx="6953250" cy="3429000"/>
          </a:xfrm>
          <a:prstGeom xmlns:a="http://schemas.openxmlformats.org/drawingml/2006/main" prst="roundRect">
            <a:avLst>
              <a:gd name="adj" fmla="val 3889"/>
            </a:avLst>
          </a:prstGeom>
          <a:ln xmlns:a="http://schemas.openxmlformats.org/drawingml/2006/main">
            <a:noFill/>
          </a:ln>
        </p:spPr>
      </p:pic>
    </p:spTree>
    <p:extLst>
      <p:ext uri="{BB962C8B-B14F-4D97-AF65-F5344CB8AC3E}">
        <p14:creationId xmlns:p14="http://schemas.microsoft.com/office/powerpoint/2010/main" val="20716330"/>
      </p:ext>
    </p:extLst>
  </p:cSld>
</p:sld>
</file>

<file path=ppt/slides/slide10.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92" name="Google Shape;92;p14">
            <a:extLst xmlns:a="http://schemas.openxmlformats.org/drawingml/2006/main">
              <a:ext uri="{FF2B5EF4-FFF2-40B4-BE49-F238E27FC236}">
                <a16:creationId xmlns:a16="http://schemas.microsoft.com/office/drawing/2014/main" id="{D44EFB75-F5C3-4E39-8F13-5224D5362D96}"/>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09</a:t>
            </a:r>
            <a:endParaRPr/>
          </a:p>
        </p:txBody>
      </p:sp>
      <p:sp>
        <p:nvSpPr>
          <p:cNvPr id="93" name="Google Shape;93;p14">
            <a:extLst xmlns:a="http://schemas.openxmlformats.org/drawingml/2006/main">
              <a:ext uri="{FF2B5EF4-FFF2-40B4-BE49-F238E27FC236}">
                <a16:creationId xmlns:a16="http://schemas.microsoft.com/office/drawing/2014/main" id="{1E0618CF-27EE-4131-B807-28E8285BBFF6}"/>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9480"/>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AI Catches Patterns the Security Rules Cannot See</a:t>
            </a:r>
            <a:endParaRPr/>
          </a:p>
        </p:txBody>
      </p:sp>
      <p:sp>
        <p:nvSpPr>
          <p:cNvPr id="94" name="Google Shape;94;p14">
            <a:extLst xmlns:a="http://schemas.openxmlformats.org/drawingml/2006/main">
              <a:ext uri="{FF2B5EF4-FFF2-40B4-BE49-F238E27FC236}">
                <a16:creationId xmlns:a16="http://schemas.microsoft.com/office/drawing/2014/main" id="{01203414-7B6F-4316-8C43-1223404CE06C}"/>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Isolation Forest scores each validated MQTT message after identity, integrity, and freshness checks pass.</a:t>
            </a:r>
            <a:endParaRPr/>
          </a:p>
        </p:txBody>
      </p:sp>
      <p:sp>
        <p:nvSpPr>
          <p:cNvPr id="95" name="Google Shape;95;p14">
            <a:extLst xmlns:a="http://schemas.openxmlformats.org/drawingml/2006/main">
              <a:ext uri="{FF2B5EF4-FFF2-40B4-BE49-F238E27FC236}">
                <a16:creationId xmlns:a16="http://schemas.microsoft.com/office/drawing/2014/main" id="{7720C9EC-87DC-4010-8078-434619EB4A9B}"/>
              </a:ext>
            </a:extLst>
          </p:cNvPr>
          <p:cNvSpPr>
            <a:spLocks xmlns:a="http://schemas.openxmlformats.org/drawingml/2006/main" noGrp="1"/>
          </p:cNvSpPr>
          <p:nvPr/>
        </p:nvSpPr>
        <p:spPr>
          <a:xfrm xmlns:a="http://schemas.openxmlformats.org/drawingml/2006/main">
            <a:off x="1005840" y="1645920"/>
            <a:ext cx="2286000" cy="2286000"/>
          </a:xfrm>
          <a:prstGeom xmlns:a="http://schemas.openxmlformats.org/drawingml/2006/main" prst="roundRect">
            <a:avLst>
              <a:gd name="adj" fmla="val 16667"/>
            </a:avLst>
          </a:prstGeom>
          <a:solidFill xmlns:a="http://schemas.openxmlformats.org/drawingml/2006/main">
            <a:srgbClr val="123846">
              <a:alpha val="88000"/>
            </a:srgbClr>
          </a:solidFill>
          <a:ln xmlns:a="http://schemas.openxmlformats.org/drawingml/2006/main" w="25432">
            <a:solidFill>
              <a:srgbClr val="87EBC7">
                <a:alpha val="78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96" name="Google Shape;96;p14">
            <a:extLst xmlns:a="http://schemas.openxmlformats.org/drawingml/2006/main">
              <a:ext uri="{FF2B5EF4-FFF2-40B4-BE49-F238E27FC236}">
                <a16:creationId xmlns:a16="http://schemas.microsoft.com/office/drawing/2014/main" id="{3F615F71-1747-4D8B-A05B-87AA792E7B36}"/>
              </a:ext>
            </a:extLst>
          </p:cNvPr>
          <p:cNvSpPr>
            <a:spLocks xmlns:a="http://schemas.openxmlformats.org/drawingml/2006/main" noGrp="1"/>
          </p:cNvSpPr>
          <p:nvPr/>
        </p:nvSpPr>
        <p:spPr>
          <a:xfrm xmlns:a="http://schemas.openxmlformats.org/drawingml/2006/main">
            <a:off x="1188720" y="1828800"/>
            <a:ext cx="1920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400" b="1" i="0">
                <a:solidFill>
                  <a:srgbClr val="87EBC7"/>
                </a:solidFill>
                <a:latin typeface="Inter"/>
                <a:ea typeface="Inter"/>
                <a:cs typeface="Inter"/>
              </a:defRPr>
            </a:pPr>
            <a:r>
              <a:rPr sz="1400" b="1" i="0" u="none" cap="none">
                <a:solidFill>
                  <a:srgbClr val="87EBC7"/>
                </a:solidFill>
                <a:latin typeface="Inter"/>
                <a:ea typeface="Inter"/>
                <a:cs typeface="Inter"/>
              </a:rPr>
              <a:t>Normal</a:t>
            </a:r>
            <a:endParaRPr/>
          </a:p>
        </p:txBody>
      </p:sp>
      <p:sp>
        <p:nvSpPr>
          <p:cNvPr id="97" name="Google Shape;97;p14">
            <a:extLst xmlns:a="http://schemas.openxmlformats.org/drawingml/2006/main">
              <a:ext uri="{FF2B5EF4-FFF2-40B4-BE49-F238E27FC236}">
                <a16:creationId xmlns:a16="http://schemas.microsoft.com/office/drawing/2014/main" id="{617DEE07-A4DB-4D30-BF32-9D1E8F8B5ED4}"/>
              </a:ext>
            </a:extLst>
          </p:cNvPr>
          <p:cNvSpPr>
            <a:spLocks xmlns:a="http://schemas.openxmlformats.org/drawingml/2006/main" noGrp="1"/>
          </p:cNvSpPr>
          <p:nvPr/>
        </p:nvSpPr>
        <p:spPr>
          <a:xfrm xmlns:a="http://schemas.openxmlformats.org/drawingml/2006/main">
            <a:off x="1188645" y="2146315"/>
            <a:ext cx="1920300" cy="178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l">
              <a:spcBef>
                <a:spcPts val="0"/>
              </a:spcBef>
              <a:spcAft>
                <a:spcPts val="0"/>
              </a:spcAft>
              <a:buNone/>
              <a:defRPr sz="1140" b="0" i="0">
                <a:solidFill>
                  <a:srgbClr val="DCEBED"/>
                </a:solidFill>
                <a:latin typeface="Inter"/>
                <a:ea typeface="Inter"/>
                <a:cs typeface="Inter"/>
              </a:defRPr>
            </a:pPr>
            <a:r>
              <a:rPr sz="1140" b="0" i="0">
                <a:solidFill>
                  <a:srgbClr val="DCEBED"/>
                </a:solidFill>
                <a:latin typeface="Inter"/>
                <a:ea typeface="Inter"/>
                <a:cs typeface="Inter"/>
              </a:rPr>
              <a:t>Passed every security check and matched expected pressure, flow, and gate behavior.</a:t>
            </a:r>
            <a:endParaRPr sz="1100">
              <a:solidFill>
                <a:srgbClr val="666666"/>
              </a:solidFill>
              <a:latin typeface="Inter"/>
              <a:ea typeface="Inter"/>
              <a:cs typeface="Inter"/>
            </a:endParaRPr>
          </a:p>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
            </a:r>
            <a:endParaRPr sz="1100">
              <a:solidFill>
                <a:srgbClr val="666666"/>
              </a:solidFill>
              <a:latin typeface="Inter"/>
              <a:ea typeface="Inter"/>
              <a:cs typeface="Inter"/>
            </a:endParaRPr>
          </a:p>
          <a:p xmlns:a="http://schemas.openxmlformats.org/drawingml/2006/main">
            <a:pPr marL="0" marR="0" lvl="0" indent="0" algn="l">
              <a:spcBef>
                <a:spcPts val="0"/>
              </a:spcBef>
              <a:spcAft>
                <a:spcPts val="0"/>
              </a:spcAft>
              <a:buNone/>
              <a:defRPr sz="1140" b="0" i="0">
                <a:solidFill>
                  <a:srgbClr val="DCEBED"/>
                </a:solidFill>
                <a:latin typeface="Inter"/>
                <a:ea typeface="Inter"/>
                <a:cs typeface="Inter"/>
              </a:defRPr>
            </a:pPr>
            <a:r>
              <a:rPr sz="1140" b="0" i="0">
                <a:solidFill>
                  <a:srgbClr val="DCEBED"/>
                </a:solidFill>
                <a:latin typeface="Inter"/>
                <a:ea typeface="Inter"/>
                <a:cs typeface="Inter"/>
              </a:rPr>
              <a:t>Displayed as trusted telemetry.</a:t>
            </a:r>
            <a:endParaRPr sz="1100">
              <a:solidFill>
                <a:srgbClr val="666666"/>
              </a:solidFill>
              <a:latin typeface="Inter"/>
              <a:ea typeface="Inter"/>
              <a:cs typeface="Inter"/>
            </a:endParaRPr>
          </a:p>
        </p:txBody>
      </p:sp>
      <p:sp>
        <p:nvSpPr>
          <p:cNvPr id="98" name="Google Shape;98;p14">
            <a:extLst xmlns:a="http://schemas.openxmlformats.org/drawingml/2006/main">
              <a:ext uri="{FF2B5EF4-FFF2-40B4-BE49-F238E27FC236}">
                <a16:creationId xmlns:a16="http://schemas.microsoft.com/office/drawing/2014/main" id="{89213409-291E-489E-8288-86B2D237F105}"/>
              </a:ext>
            </a:extLst>
          </p:cNvPr>
          <p:cNvSpPr>
            <a:spLocks xmlns:a="http://schemas.openxmlformats.org/drawingml/2006/main" noGrp="1"/>
          </p:cNvSpPr>
          <p:nvPr/>
        </p:nvSpPr>
        <p:spPr>
          <a:xfrm xmlns:a="http://schemas.openxmlformats.org/drawingml/2006/main">
            <a:off x="3566160" y="1645920"/>
            <a:ext cx="2286000" cy="2286000"/>
          </a:xfrm>
          <a:prstGeom xmlns:a="http://schemas.openxmlformats.org/drawingml/2006/main" prst="roundRect">
            <a:avLst>
              <a:gd name="adj" fmla="val 16667"/>
            </a:avLst>
          </a:prstGeom>
          <a:solidFill xmlns:a="http://schemas.openxmlformats.org/drawingml/2006/main">
            <a:srgbClr val="452F14">
              <a:alpha val="88000"/>
            </a:srgbClr>
          </a:solidFill>
          <a:ln xmlns:a="http://schemas.openxmlformats.org/drawingml/2006/main" w="25432">
            <a:solidFill>
              <a:srgbClr val="F59E0B">
                <a:alpha val="8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99" name="Google Shape;99;p14">
            <a:extLst xmlns:a="http://schemas.openxmlformats.org/drawingml/2006/main">
              <a:ext uri="{FF2B5EF4-FFF2-40B4-BE49-F238E27FC236}">
                <a16:creationId xmlns:a16="http://schemas.microsoft.com/office/drawing/2014/main" id="{7F8E4BBA-F621-412A-849F-1E9176DDF197}"/>
              </a:ext>
            </a:extLst>
          </p:cNvPr>
          <p:cNvSpPr>
            <a:spLocks xmlns:a="http://schemas.openxmlformats.org/drawingml/2006/main" noGrp="1"/>
          </p:cNvSpPr>
          <p:nvPr/>
        </p:nvSpPr>
        <p:spPr>
          <a:xfrm xmlns:a="http://schemas.openxmlformats.org/drawingml/2006/main">
            <a:off x="3792915" y="1730100"/>
            <a:ext cx="19203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400" b="1" i="0">
                <a:solidFill>
                  <a:srgbClr val="FDBA74"/>
                </a:solidFill>
                <a:latin typeface="Inter"/>
                <a:ea typeface="Inter"/>
                <a:cs typeface="Inter"/>
              </a:defRPr>
            </a:pPr>
            <a:r>
              <a:rPr sz="1400" b="1" i="0" u="none" cap="none">
                <a:solidFill>
                  <a:srgbClr val="FDBA74"/>
                </a:solidFill>
                <a:latin typeface="Inter"/>
                <a:ea typeface="Inter"/>
                <a:cs typeface="Inter"/>
              </a:rPr>
              <a:t>AI Flagged</a:t>
            </a:r>
            <a:endParaRPr/>
          </a:p>
        </p:txBody>
      </p:sp>
      <p:sp>
        <p:nvSpPr>
          <p:cNvPr id="100" name="Google Shape;100;p14">
            <a:extLst xmlns:a="http://schemas.openxmlformats.org/drawingml/2006/main">
              <a:ext uri="{FF2B5EF4-FFF2-40B4-BE49-F238E27FC236}">
                <a16:creationId xmlns:a16="http://schemas.microsoft.com/office/drawing/2014/main" id="{2B1F6355-15C8-4BC0-B6D6-DA0F03C9F3E3}"/>
              </a:ext>
            </a:extLst>
          </p:cNvPr>
          <p:cNvSpPr>
            <a:spLocks xmlns:a="http://schemas.openxmlformats.org/drawingml/2006/main" noGrp="1"/>
          </p:cNvSpPr>
          <p:nvPr/>
        </p:nvSpPr>
        <p:spPr>
          <a:xfrm xmlns:a="http://schemas.openxmlformats.org/drawingml/2006/main">
            <a:off x="3749003" y="2025190"/>
            <a:ext cx="1920300" cy="195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l">
              <a:spcBef>
                <a:spcPts val="0"/>
              </a:spcBef>
              <a:spcAft>
                <a:spcPts val="0"/>
              </a:spcAft>
              <a:buNone/>
              <a:defRPr sz="1140" b="0" i="0">
                <a:solidFill>
                  <a:srgbClr val="F7E7CF"/>
                </a:solidFill>
                <a:latin typeface="Inter"/>
                <a:ea typeface="Inter"/>
                <a:cs typeface="Inter"/>
              </a:defRPr>
            </a:pPr>
            <a:r>
              <a:rPr sz="1140" b="0" i="0">
                <a:solidFill>
                  <a:srgbClr val="F7E7CF"/>
                </a:solidFill>
                <a:latin typeface="Inter"/>
                <a:ea typeface="Inter"/>
                <a:cs typeface="Inter"/>
              </a:rPr>
              <a:t>Passed every security check, but the combination of readings looked unusual.</a:t>
            </a:r>
            <a:endParaRPr sz="1100" b="0" i="0" u="none" cap="none">
              <a:solidFill>
                <a:srgbClr val="666666"/>
              </a:solidFill>
              <a:latin typeface="Inter"/>
              <a:ea typeface="Inter"/>
              <a:cs typeface="Inter"/>
            </a:endParaRPr>
          </a:p>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
            </a:r>
            <a:endParaRPr sz="1100" b="0" i="0" u="none" cap="none">
              <a:solidFill>
                <a:srgbClr val="666666"/>
              </a:solidFill>
              <a:latin typeface="Inter"/>
              <a:ea typeface="Inter"/>
              <a:cs typeface="Inter"/>
            </a:endParaRPr>
          </a:p>
          <a:p xmlns:a="http://schemas.openxmlformats.org/drawingml/2006/main">
            <a:pPr marL="0" marR="0" lvl="0" indent="0" algn="l">
              <a:spcBef>
                <a:spcPts val="0"/>
              </a:spcBef>
              <a:spcAft>
                <a:spcPts val="0"/>
              </a:spcAft>
              <a:buNone/>
              <a:defRPr sz="1140" b="0" i="0">
                <a:solidFill>
                  <a:srgbClr val="F7E7CF"/>
                </a:solidFill>
                <a:latin typeface="Inter"/>
                <a:ea typeface="Inter"/>
                <a:cs typeface="Inter"/>
              </a:defRPr>
            </a:pPr>
            <a:r>
              <a:rPr sz="1140" b="0" i="0">
                <a:solidFill>
                  <a:srgbClr val="F7E7CF"/>
                </a:solidFill>
                <a:latin typeface="Inter"/>
                <a:ea typeface="Inter"/>
                <a:cs typeface="Inter"/>
              </a:rPr>
              <a:t>Highlighted orange for staff review.</a:t>
            </a:r>
            <a:endParaRPr sz="1100" b="0" i="0" u="none" cap="none">
              <a:solidFill>
                <a:srgbClr val="666666"/>
              </a:solidFill>
              <a:latin typeface="Inter"/>
              <a:ea typeface="Inter"/>
              <a:cs typeface="Inter"/>
            </a:endParaRPr>
          </a:p>
        </p:txBody>
      </p:sp>
      <p:sp>
        <p:nvSpPr>
          <p:cNvPr id="101" name="Google Shape;101;p14">
            <a:extLst xmlns:a="http://schemas.openxmlformats.org/drawingml/2006/main">
              <a:ext uri="{FF2B5EF4-FFF2-40B4-BE49-F238E27FC236}">
                <a16:creationId xmlns:a16="http://schemas.microsoft.com/office/drawing/2014/main" id="{BBFFCBC3-6FBC-4801-8C43-1740A6ABF637}"/>
              </a:ext>
            </a:extLst>
          </p:cNvPr>
          <p:cNvSpPr>
            <a:spLocks xmlns:a="http://schemas.openxmlformats.org/drawingml/2006/main" noGrp="1"/>
          </p:cNvSpPr>
          <p:nvPr/>
        </p:nvSpPr>
        <p:spPr>
          <a:xfrm xmlns:a="http://schemas.openxmlformats.org/drawingml/2006/main">
            <a:off x="6126479" y="1645920"/>
            <a:ext cx="2286000" cy="2286000"/>
          </a:xfrm>
          <a:prstGeom xmlns:a="http://schemas.openxmlformats.org/drawingml/2006/main" prst="roundRect">
            <a:avLst>
              <a:gd name="adj" fmla="val 16667"/>
            </a:avLst>
          </a:prstGeom>
          <a:solidFill xmlns:a="http://schemas.openxmlformats.org/drawingml/2006/main">
            <a:srgbClr val="412026">
              <a:alpha val="88000"/>
            </a:srgbClr>
          </a:solidFill>
          <a:ln xmlns:a="http://schemas.openxmlformats.org/drawingml/2006/main" w="25432">
            <a:solidFill>
              <a:srgbClr val="FF7A78">
                <a:alpha val="82000"/>
              </a:srgbClr>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102" name="Google Shape;102;p14">
            <a:extLst xmlns:a="http://schemas.openxmlformats.org/drawingml/2006/main">
              <a:ext uri="{FF2B5EF4-FFF2-40B4-BE49-F238E27FC236}">
                <a16:creationId xmlns:a16="http://schemas.microsoft.com/office/drawing/2014/main" id="{0BA65645-E600-47AE-8AC8-18A56567B79A}"/>
              </a:ext>
            </a:extLst>
          </p:cNvPr>
          <p:cNvSpPr>
            <a:spLocks xmlns:a="http://schemas.openxmlformats.org/drawingml/2006/main" noGrp="1"/>
          </p:cNvSpPr>
          <p:nvPr/>
        </p:nvSpPr>
        <p:spPr>
          <a:xfrm xmlns:a="http://schemas.openxmlformats.org/drawingml/2006/main">
            <a:off x="6309359" y="1828800"/>
            <a:ext cx="1920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400" b="1" i="0">
                <a:solidFill>
                  <a:srgbClr val="FF9E9A"/>
                </a:solidFill>
                <a:latin typeface="Inter"/>
                <a:ea typeface="Inter"/>
                <a:cs typeface="Inter"/>
              </a:defRPr>
            </a:pPr>
            <a:r>
              <a:rPr sz="1400" b="1" i="0" u="none" cap="none">
                <a:solidFill>
                  <a:srgbClr val="FF9E9A"/>
                </a:solidFill>
                <a:latin typeface="Inter"/>
                <a:ea typeface="Inter"/>
                <a:cs typeface="Inter"/>
              </a:rPr>
              <a:t>Blocked</a:t>
            </a:r>
            <a:endParaRPr/>
          </a:p>
        </p:txBody>
      </p:sp>
      <p:sp>
        <p:nvSpPr>
          <p:cNvPr id="103" name="Google Shape;103;p14">
            <a:extLst xmlns:a="http://schemas.openxmlformats.org/drawingml/2006/main">
              <a:ext uri="{FF2B5EF4-FFF2-40B4-BE49-F238E27FC236}">
                <a16:creationId xmlns:a16="http://schemas.microsoft.com/office/drawing/2014/main" id="{3BD4A235-B70F-4BFA-AB6E-16525624E2F1}"/>
              </a:ext>
            </a:extLst>
          </p:cNvPr>
          <p:cNvSpPr>
            <a:spLocks xmlns:a="http://schemas.openxmlformats.org/drawingml/2006/main" noGrp="1"/>
          </p:cNvSpPr>
          <p:nvPr/>
        </p:nvSpPr>
        <p:spPr>
          <a:xfrm xmlns:a="http://schemas.openxmlformats.org/drawingml/2006/main">
            <a:off x="6309359" y="2194540"/>
            <a:ext cx="1920300" cy="1798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l">
              <a:spcBef>
                <a:spcPts val="0"/>
              </a:spcBef>
              <a:spcAft>
                <a:spcPts val="0"/>
              </a:spcAft>
              <a:buNone/>
              <a:defRPr sz="1140" b="0" i="0">
                <a:solidFill>
                  <a:srgbClr val="F7DEDF"/>
                </a:solidFill>
                <a:latin typeface="Inter"/>
                <a:ea typeface="Inter"/>
                <a:cs typeface="Inter"/>
              </a:defRPr>
            </a:pPr>
            <a:r>
              <a:rPr sz="1140" b="0" i="0">
                <a:solidFill>
                  <a:srgbClr val="F7DEDF"/>
                </a:solidFill>
                <a:latin typeface="Inter"/>
                <a:ea typeface="Inter"/>
                <a:cs typeface="Inter"/>
              </a:rPr>
              <a:t>Failed HMAC, timestamp, or sequence validation.</a:t>
            </a:r>
            <a:endParaRPr sz="1100" b="0" i="0" u="none" cap="none">
              <a:solidFill>
                <a:srgbClr val="666666"/>
              </a:solidFill>
              <a:latin typeface="Inter"/>
              <a:ea typeface="Inter"/>
              <a:cs typeface="Inter"/>
            </a:endParaRPr>
          </a:p>
          <a:p xmlns:a="http://schemas.openxmlformats.org/drawingml/2006/main">
            <a:pPr marL="0" marR="0" lvl="0" indent="0" algn="ctr">
              <a:spcBef>
                <a:spcPts val="0"/>
              </a:spcBef>
              <a:spcAft>
                <a:spcPts val="0"/>
              </a:spcAft>
              <a:buNone/>
              <a:defRPr sz="1028" b="0" i="0">
                <a:solidFill>
                  <a:srgbClr val="D3E2E7"/>
                </a:solidFill>
                <a:latin typeface="Inter"/>
                <a:ea typeface="Inter"/>
                <a:cs typeface="Inter"/>
              </a:defRPr>
            </a:pPr>
            <a:r>
              <a:rPr sz="1028" b="0" i="0">
                <a:solidFill>
                  <a:srgbClr val="D3E2E7"/>
                </a:solidFill>
                <a:latin typeface="Inter"/>
                <a:ea typeface="Inter"/>
                <a:cs typeface="Inter"/>
              </a:rPr>
              <a:t/>
            </a:r>
            <a:endParaRPr sz="1100" b="0" i="0" u="none" cap="none">
              <a:solidFill>
                <a:srgbClr val="666666"/>
              </a:solidFill>
              <a:latin typeface="Inter"/>
              <a:ea typeface="Inter"/>
              <a:cs typeface="Inter"/>
            </a:endParaRPr>
          </a:p>
          <a:p xmlns:a="http://schemas.openxmlformats.org/drawingml/2006/main">
            <a:pPr marL="0" marR="0" lvl="0" indent="0" algn="l">
              <a:spcBef>
                <a:spcPts val="0"/>
              </a:spcBef>
              <a:spcAft>
                <a:spcPts val="0"/>
              </a:spcAft>
              <a:buNone/>
              <a:defRPr sz="1140" b="0" i="0">
                <a:solidFill>
                  <a:srgbClr val="F7DEDF"/>
                </a:solidFill>
                <a:latin typeface="Inter"/>
                <a:ea typeface="Inter"/>
                <a:cs typeface="Inter"/>
              </a:defRPr>
            </a:pPr>
            <a:r>
              <a:rPr sz="1140" b="0" i="0">
                <a:solidFill>
                  <a:srgbClr val="F7DEDF"/>
                </a:solidFill>
                <a:latin typeface="Inter"/>
                <a:ea typeface="Inter"/>
                <a:cs typeface="Inter"/>
              </a:rPr>
              <a:t>Rejected before it could update the dashboard.</a:t>
            </a:r>
            <a:endParaRPr sz="1100" b="0" i="0" u="none" cap="none">
              <a:solidFill>
                <a:srgbClr val="666666"/>
              </a:solidFill>
              <a:latin typeface="Inter"/>
              <a:ea typeface="Inter"/>
              <a:cs typeface="Inter"/>
            </a:endParaRPr>
          </a:p>
        </p:txBody>
      </p:sp>
      <p:sp>
        <p:nvSpPr>
          <p:cNvPr id="104" name="Google Shape;104;p14">
            <a:extLst xmlns:a="http://schemas.openxmlformats.org/drawingml/2006/main">
              <a:ext uri="{FF2B5EF4-FFF2-40B4-BE49-F238E27FC236}">
                <a16:creationId xmlns:a16="http://schemas.microsoft.com/office/drawing/2014/main" id="{BB26AC9C-E9A1-4477-BE13-AE07A33A3358}"/>
              </a:ext>
            </a:extLst>
          </p:cNvPr>
          <p:cNvSpPr>
            <a:spLocks xmlns:a="http://schemas.openxmlformats.org/drawingml/2006/main" noGrp="1"/>
          </p:cNvSpPr>
          <p:nvPr/>
        </p:nvSpPr>
        <p:spPr>
          <a:xfrm xmlns:a="http://schemas.openxmlformats.org/drawingml/2006/main">
            <a:off x="1005840" y="4502365"/>
            <a:ext cx="7772400" cy="6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960" b="1" i="0">
                <a:solidFill>
                  <a:srgbClr val="87EBC7"/>
                </a:solidFill>
                <a:latin typeface="Inter"/>
                <a:ea typeface="Inter"/>
                <a:cs typeface="Inter"/>
              </a:defRPr>
            </a:pPr>
            <a:r>
              <a:rPr sz="960" b="1" i="0" u="none" cap="none">
                <a:solidFill>
                  <a:srgbClr val="87EBC7"/>
                </a:solidFill>
                <a:latin typeface="Inter"/>
                <a:ea typeface="Inter"/>
                <a:cs typeface="Inter"/>
              </a:rPr>
              <a:t>Isolation Forest (0.05)  |  Precision 0.736  |  Recall 0.780  |  F1 0.757</a:t>
            </a:r>
            <a:endParaRPr sz="1100" b="1" i="0" u="none" cap="none">
              <a:solidFill>
                <a:srgbClr val="FF2600"/>
              </a:solidFill>
              <a:latin typeface="Inter"/>
              <a:ea typeface="Inter"/>
              <a:cs typeface="Inter"/>
            </a:endParaRPr>
          </a:p>
          <a:p xmlns:a="http://schemas.openxmlformats.org/drawingml/2006/main">
            <a:pPr marL="0" marR="0" lvl="0" indent="0" algn="ctr">
              <a:spcBef>
                <a:spcPts val="0"/>
              </a:spcBef>
              <a:spcAft>
                <a:spcPts val="0"/>
              </a:spcAft>
              <a:buNone/>
              <a:defRPr sz="960" b="1" i="0">
                <a:solidFill>
                  <a:srgbClr val="87EBC7"/>
                </a:solidFill>
                <a:latin typeface="Inter"/>
                <a:ea typeface="Inter"/>
                <a:cs typeface="Inter"/>
              </a:defRPr>
            </a:pPr>
            <a:r>
              <a:rPr sz="960" b="1" i="0" u="none" cap="none">
                <a:solidFill>
                  <a:srgbClr val="87EBC7"/>
                </a:solidFill>
                <a:latin typeface="Inter"/>
                <a:ea typeface="Inter"/>
                <a:cs typeface="Inter"/>
              </a:rPr>
              <a:t>0.10 contamination raised false positives from 14 to 65 for only one additional true positive.</a:t>
            </a:r>
            <a:endParaRPr sz="1100" b="1" i="0" u="none" cap="none">
              <a:solidFill>
                <a:srgbClr val="FF2600"/>
              </a:solidFill>
              <a:latin typeface="Inter"/>
              <a:ea typeface="Inter"/>
              <a:cs typeface="Inter"/>
            </a:endParaRPr>
          </a:p>
        </p:txBody>
      </p:sp>
    </p:spTree>
    <p:extLst>
      <p:ext uri="{BB962C8B-B14F-4D97-AF65-F5344CB8AC3E}">
        <p14:creationId xmlns:p14="http://schemas.microsoft.com/office/powerpoint/2010/main" val="2011839611"/>
      </p:ext>
    </p:extLst>
  </p:cSld>
</p:sld>
</file>

<file path=ppt/slides/slide11.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56" name="Google Shape;156;p18">
            <a:extLst xmlns:a="http://schemas.openxmlformats.org/drawingml/2006/main">
              <a:ext uri="{FF2B5EF4-FFF2-40B4-BE49-F238E27FC236}">
                <a16:creationId xmlns:a16="http://schemas.microsoft.com/office/drawing/2014/main" id="{55B37C57-6744-40B5-A041-09C079BED9CC}"/>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10</a:t>
            </a:r>
            <a:endParaRPr/>
          </a:p>
        </p:txBody>
      </p:sp>
      <p:sp>
        <p:nvSpPr>
          <p:cNvPr id="157" name="Google Shape;157;p18">
            <a:extLst xmlns:a="http://schemas.openxmlformats.org/drawingml/2006/main">
              <a:ext uri="{FF2B5EF4-FFF2-40B4-BE49-F238E27FC236}">
                <a16:creationId xmlns:a16="http://schemas.microsoft.com/office/drawing/2014/main" id="{DAAE43BF-B667-4115-BF8A-04985680E0E6}"/>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AI and Rules Operate Together in Real Time</a:t>
            </a:r>
            <a:endParaRPr/>
          </a:p>
        </p:txBody>
      </p:sp>
      <p:sp>
        <p:nvSpPr>
          <p:cNvPr id="158" name="Google Shape;158;p18">
            <a:extLst xmlns:a="http://schemas.openxmlformats.org/drawingml/2006/main">
              <a:ext uri="{FF2B5EF4-FFF2-40B4-BE49-F238E27FC236}">
                <a16:creationId xmlns:a16="http://schemas.microsoft.com/office/drawing/2014/main" id="{83F45150-D529-4A9F-8B82-58D8302F5074}"/>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Four coordinated services reproduce trusted traffic, known attacks, and unusual sensor patterns against the same secured pipeline.</a:t>
            </a:r>
            <a:endParaRPr/>
          </a:p>
        </p:txBody>
      </p:sp>
      <p:sp>
        <p:nvSpPr>
          <p:cNvPr id="159" name="Google Shape;159;p18">
            <a:extLst xmlns:a="http://schemas.openxmlformats.org/drawingml/2006/main">
              <a:ext uri="{FF2B5EF4-FFF2-40B4-BE49-F238E27FC236}">
                <a16:creationId xmlns:a16="http://schemas.microsoft.com/office/drawing/2014/main" id="{CDE8DED6-CCFA-4C46-A6A1-DD4E7E7B567B}"/>
              </a:ext>
            </a:extLst>
          </p:cNvPr>
          <p:cNvSpPr>
            <a:spLocks xmlns:a="http://schemas.openxmlformats.org/drawingml/2006/main" noGrp="1"/>
          </p:cNvSpPr>
          <p:nvPr/>
        </p:nvSpPr>
        <p:spPr>
          <a:xfrm xmlns:a="http://schemas.openxmlformats.org/drawingml/2006/main">
            <a:off x="1005840" y="1314450"/>
            <a:ext cx="3429000" cy="396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60189"/>
          </a:bodyPr>
          <a:lstStyle xmlns:a="http://schemas.openxmlformats.org/drawingml/2006/main"/>
          <a:p xmlns:a="http://schemas.openxmlformats.org/drawingml/2006/main">
            <a:pPr marL="0" lvl="0" indent="0" algn="l">
              <a:spcBef>
                <a:spcPts val="0"/>
              </a:spcBef>
              <a:spcAft>
                <a:spcPts val="0"/>
              </a:spcAft>
              <a:buNone/>
              <a:defRPr sz="1163" b="1" i="0">
                <a:solidFill>
                  <a:srgbClr val="4FC3F7"/>
                </a:solidFill>
                <a:latin typeface="Inter"/>
                <a:ea typeface="Inter"/>
                <a:cs typeface="Inter"/>
              </a:defRPr>
            </a:pPr>
            <a:r>
              <a:rPr sz="1163" b="1" i="0">
                <a:solidFill>
                  <a:srgbClr val="4FC3F7"/>
                </a:solidFill>
                <a:latin typeface="Inter"/>
                <a:ea typeface="Inter"/>
                <a:cs typeface="Inter"/>
                <a:hlinkClick xmlns:r="http://schemas.openxmlformats.org/officeDocument/2006/relationships" r:id="Re07750b620234783"/>
              </a:rPr>
              <a:t>Live test: broker + defended publisher + attack simulator + anomaly injector  →</a:t>
            </a:r>
            <a:endParaRPr/>
          </a:p>
        </p:txBody>
      </p:sp>
      <p:pic>
        <p:nvPicPr>
          <p:cNvPr id="165" name="Google Shape;160;p18"/>
          <p:cNvPicPr>
            <a:picLocks xmlns:a="http://schemas.openxmlformats.org/drawingml/2006/main" noChangeAspect="1"/>
          </p:cNvPicPr>
          <p:nvPr/>
        </p:nvPicPr>
        <p:blipFill>
          <a:blip xmlns:r="http://schemas.openxmlformats.org/officeDocument/2006/relationships" xmlns:a="http://schemas.openxmlformats.org/drawingml/2006/main" r:embed="Ra839791a009c4f37">
            <a:alphaModFix/>
          </a:blip>
          <a:stretch xmlns:a="http://schemas.openxmlformats.org/drawingml/2006/main">
            <a:fillRect l="0" t="0" r="0" b="0"/>
          </a:stretch>
        </p:blipFill>
        <p:spPr>
          <a:xfrm xmlns:a="http://schemas.openxmlformats.org/drawingml/2006/main" flipH="0" flipV="0">
            <a:off x="1714500" y="1666875"/>
            <a:ext cx="5715000" cy="3190875"/>
          </a:xfrm>
          <a:prstGeom xmlns:a="http://schemas.openxmlformats.org/drawingml/2006/main" prst="round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spTree>
    <p:extLst>
      <p:ext uri="{BB962C8B-B14F-4D97-AF65-F5344CB8AC3E}">
        <p14:creationId xmlns:p14="http://schemas.microsoft.com/office/powerpoint/2010/main" val="429899202"/>
      </p:ext>
    </p:extLst>
  </p:cSld>
</p:sld>
</file>

<file path=ppt/slides/slide12.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83" name="Google Shape;183;p21">
            <a:extLst xmlns:a="http://schemas.openxmlformats.org/drawingml/2006/main">
              <a:ext uri="{FF2B5EF4-FFF2-40B4-BE49-F238E27FC236}">
                <a16:creationId xmlns:a16="http://schemas.microsoft.com/office/drawing/2014/main" id="{053CA2C7-9A0A-4775-83C8-32FC3F32F0B5}"/>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11</a:t>
            </a:r>
            <a:endParaRPr/>
          </a:p>
        </p:txBody>
      </p:sp>
      <p:sp>
        <p:nvSpPr>
          <p:cNvPr id="184" name="Google Shape;184;p21">
            <a:extLst xmlns:a="http://schemas.openxmlformats.org/drawingml/2006/main">
              <a:ext uri="{FF2B5EF4-FFF2-40B4-BE49-F238E27FC236}">
                <a16:creationId xmlns:a16="http://schemas.microsoft.com/office/drawing/2014/main" id="{4EAAF5D4-8BF0-4AF6-8933-259F1BA8016A}"/>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550" b="1" i="0">
                <a:solidFill>
                  <a:srgbClr val="F5FCFC"/>
                </a:solidFill>
                <a:latin typeface="Inter"/>
                <a:ea typeface="Inter"/>
                <a:cs typeface="Inter"/>
              </a:defRPr>
            </a:pPr>
            <a:r>
              <a:rPr sz="2550" b="1" i="0" u="none" cap="none">
                <a:solidFill>
                  <a:srgbClr val="F5FCFC"/>
                </a:solidFill>
                <a:latin typeface="Inter"/>
                <a:ea typeface="Inter"/>
                <a:cs typeface="Inter"/>
              </a:rPr>
              <a:t>AI Decisions Appear Instantly on the Dashboard</a:t>
            </a:r>
            <a:endParaRPr/>
          </a:p>
        </p:txBody>
      </p:sp>
      <p:sp>
        <p:nvSpPr>
          <p:cNvPr id="185" name="Google Shape;185;p21">
            <a:extLst xmlns:a="http://schemas.openxmlformats.org/drawingml/2006/main">
              <a:ext uri="{FF2B5EF4-FFF2-40B4-BE49-F238E27FC236}">
                <a16:creationId xmlns:a16="http://schemas.microsoft.com/office/drawing/2014/main" id="{D92FF472-D487-40C2-824C-0CE5B89374C3}"/>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Green confirms trusted telemetry, orange marks an unusual pattern for review, and red records a blocked security failure.</a:t>
            </a:r>
            <a:endParaRPr/>
          </a:p>
        </p:txBody>
      </p:sp>
      <p:pic>
        <p:nvPicPr>
          <p:cNvPr id="190" name="Google Shape;187;p21"/>
          <p:cNvPicPr>
            <a:picLocks xmlns:a="http://schemas.openxmlformats.org/drawingml/2006/main" noChangeAspect="1"/>
          </p:cNvPicPr>
          <p:nvPr/>
        </p:nvPicPr>
        <p:blipFill>
          <a:blip xmlns:r="http://schemas.openxmlformats.org/officeDocument/2006/relationships" xmlns:a="http://schemas.openxmlformats.org/drawingml/2006/main" r:embed="Rb5b3ac9332a64338">
            <a:alphaModFix/>
          </a:blip>
          <a:stretch xmlns:a="http://schemas.openxmlformats.org/drawingml/2006/main">
            <a:fillRect l="0" t="0" r="0" b="0"/>
          </a:stretch>
        </p:blipFill>
        <p:spPr>
          <a:xfrm xmlns:a="http://schemas.openxmlformats.org/drawingml/2006/main" flipH="0" flipV="0">
            <a:off x="1095375" y="1428750"/>
            <a:ext cx="6953250" cy="3429000"/>
          </a:xfrm>
          <a:prstGeom xmlns:a="http://schemas.openxmlformats.org/drawingml/2006/main" prst="roundRect">
            <a:avLst/>
          </a:prstGeom>
          <a:ln xmlns:a="http://schemas.openxmlformats.org/drawingml/2006/main">
            <a:noFill/>
          </a:ln>
        </p:spPr>
      </p:pic>
    </p:spTree>
    <p:extLst>
      <p:ext uri="{BB962C8B-B14F-4D97-AF65-F5344CB8AC3E}">
        <p14:creationId xmlns:p14="http://schemas.microsoft.com/office/powerpoint/2010/main" val="20716330"/>
      </p:ext>
    </p:extLst>
  </p:cSld>
</p:sld>
</file>

<file path=ppt/slides/slide13.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192" name="Google Shape;192;p22">
            <a:extLst xmlns:a="http://schemas.openxmlformats.org/drawingml/2006/main">
              <a:ext uri="{FF2B5EF4-FFF2-40B4-BE49-F238E27FC236}">
                <a16:creationId xmlns:a16="http://schemas.microsoft.com/office/drawing/2014/main" id="{CB651D6C-E1CB-4C9F-AD10-B2B910E4DB1A}"/>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22C7B8"/>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12</a:t>
            </a:r>
            <a:endParaRPr/>
          </a:p>
        </p:txBody>
      </p:sp>
      <p:sp>
        <p:nvSpPr>
          <p:cNvPr id="193" name="Google Shape;193;p22">
            <a:extLst xmlns:a="http://schemas.openxmlformats.org/drawingml/2006/main">
              <a:ext uri="{FF2B5EF4-FFF2-40B4-BE49-F238E27FC236}">
                <a16:creationId xmlns:a16="http://schemas.microsoft.com/office/drawing/2014/main" id="{2E1D2524-635D-438B-B24F-8FAD307BAEEB}"/>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2625" b="1" i="0">
                <a:solidFill>
                  <a:srgbClr val="F5FCFC"/>
                </a:solidFill>
                <a:latin typeface="Inter"/>
                <a:ea typeface="Inter"/>
                <a:cs typeface="Inter"/>
              </a:defRPr>
            </a:pPr>
            <a:r>
              <a:rPr sz="2625" b="1" i="0" u="none" cap="none">
                <a:solidFill>
                  <a:srgbClr val="F5FCFC"/>
                </a:solidFill>
                <a:latin typeface="Inter"/>
                <a:ea typeface="Inter"/>
                <a:cs typeface="Inter"/>
              </a:rPr>
              <a:t>Testing Revealed Four Production Priorities</a:t>
            </a:r>
            <a:endParaRPr/>
          </a:p>
        </p:txBody>
      </p:sp>
      <p:sp>
        <p:nvSpPr>
          <p:cNvPr id="194" name="Google Shape;194;p22">
            <a:extLst xmlns:a="http://schemas.openxmlformats.org/drawingml/2006/main">
              <a:ext uri="{FF2B5EF4-FFF2-40B4-BE49-F238E27FC236}">
                <a16:creationId xmlns:a16="http://schemas.microsoft.com/office/drawing/2014/main" id="{04F46C79-C098-403B-8435-DADFF2F5E124}"/>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The prototype worked—and clarified which controls, trust boundaries, tests, and limitations matter most for the next security cycle.</a:t>
            </a:r>
            <a:endParaRPr/>
          </a:p>
        </p:txBody>
      </p:sp>
      <p:sp>
        <p:nvSpPr>
          <p:cNvPr id="195" name="Google Shape;195;p22">
            <a:extLst xmlns:a="http://schemas.openxmlformats.org/drawingml/2006/main">
              <a:ext uri="{FF2B5EF4-FFF2-40B4-BE49-F238E27FC236}">
                <a16:creationId xmlns:a16="http://schemas.microsoft.com/office/drawing/2014/main" id="{E2AC1CF4-0FA2-44AB-9ECD-1374A3564A3B}"/>
              </a:ext>
            </a:extLst>
          </p:cNvPr>
          <p:cNvSpPr>
            <a:spLocks xmlns:a="http://schemas.openxmlformats.org/drawingml/2006/main" noGrp="1"/>
          </p:cNvSpPr>
          <p:nvPr/>
        </p:nvSpPr>
        <p:spPr>
          <a:xfrm xmlns:a="http://schemas.openxmlformats.org/drawingml/2006/main">
            <a:off x="731520" y="1417320"/>
            <a:ext cx="274320" cy="274320"/>
          </a:xfrm>
          <a:prstGeom xmlns:a="http://schemas.openxmlformats.org/drawingml/2006/main" prst="ellipse">
            <a:avLst/>
          </a:prstGeom>
          <a:solidFill xmlns:a="http://schemas.openxmlformats.org/drawingml/2006/main">
            <a:srgbClr val="22C7B8"/>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1</a:t>
            </a:r>
            <a:endParaRPr/>
          </a:p>
        </p:txBody>
      </p:sp>
      <p:sp>
        <p:nvSpPr>
          <p:cNvPr id="196" name="Google Shape;196;p22">
            <a:extLst xmlns:a="http://schemas.openxmlformats.org/drawingml/2006/main">
              <a:ext uri="{FF2B5EF4-FFF2-40B4-BE49-F238E27FC236}">
                <a16:creationId xmlns:a16="http://schemas.microsoft.com/office/drawing/2014/main" id="{ADF9F09A-DF60-455A-9049-8D831A609CF5}"/>
              </a:ext>
            </a:extLst>
          </p:cNvPr>
          <p:cNvSpPr>
            <a:spLocks xmlns:a="http://schemas.openxmlformats.org/drawingml/2006/main" noGrp="1"/>
          </p:cNvSpPr>
          <p:nvPr/>
        </p:nvSpPr>
        <p:spPr>
          <a:xfrm xmlns:a="http://schemas.openxmlformats.org/drawingml/2006/main">
            <a:off x="1188720" y="137160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Layered controls are essential</a:t>
            </a:r>
            <a:endParaRPr/>
          </a:p>
        </p:txBody>
      </p:sp>
      <p:sp>
        <p:nvSpPr>
          <p:cNvPr id="197" name="Google Shape;197;p22">
            <a:extLst xmlns:a="http://schemas.openxmlformats.org/drawingml/2006/main">
              <a:ext uri="{FF2B5EF4-FFF2-40B4-BE49-F238E27FC236}">
                <a16:creationId xmlns:a16="http://schemas.microsoft.com/office/drawing/2014/main" id="{3B59A13C-3507-4E6A-ACC4-B4037256E2A3}"/>
              </a:ext>
            </a:extLst>
          </p:cNvPr>
          <p:cNvSpPr>
            <a:spLocks xmlns:a="http://schemas.openxmlformats.org/drawingml/2006/main" noGrp="1"/>
          </p:cNvSpPr>
          <p:nvPr/>
        </p:nvSpPr>
        <p:spPr>
          <a:xfrm xmlns:a="http://schemas.openxmlformats.org/drawingml/2006/main">
            <a:off x="1188720" y="169164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mTLS proves device identity, HMAC protects every reading, and freshness checks block reuse. No single control covers all three failure modes.</a:t>
            </a:r>
            <a:endParaRPr/>
          </a:p>
        </p:txBody>
      </p:sp>
      <p:sp>
        <p:nvSpPr>
          <p:cNvPr id="198" name="Google Shape;198;p22">
            <a:extLst xmlns:a="http://schemas.openxmlformats.org/drawingml/2006/main">
              <a:ext uri="{FF2B5EF4-FFF2-40B4-BE49-F238E27FC236}">
                <a16:creationId xmlns:a16="http://schemas.microsoft.com/office/drawing/2014/main" id="{7A438CA3-F0AE-4162-91B8-C1BC7AE42716}"/>
              </a:ext>
            </a:extLst>
          </p:cNvPr>
          <p:cNvSpPr>
            <a:spLocks xmlns:a="http://schemas.openxmlformats.org/drawingml/2006/main" noGrp="1"/>
          </p:cNvSpPr>
          <p:nvPr/>
        </p:nvSpPr>
        <p:spPr>
          <a:xfrm xmlns:a="http://schemas.openxmlformats.org/drawingml/2006/main">
            <a:off x="731520" y="2286000"/>
            <a:ext cx="274320" cy="274320"/>
          </a:xfrm>
          <a:prstGeom xmlns:a="http://schemas.openxmlformats.org/drawingml/2006/main" prst="ellipse">
            <a:avLst/>
          </a:prstGeom>
          <a:solidFill xmlns:a="http://schemas.openxmlformats.org/drawingml/2006/main">
            <a:srgbClr val="4FC3F7"/>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2</a:t>
            </a:r>
            <a:endParaRPr/>
          </a:p>
        </p:txBody>
      </p:sp>
      <p:sp>
        <p:nvSpPr>
          <p:cNvPr id="199" name="Google Shape;199;p22">
            <a:extLst xmlns:a="http://schemas.openxmlformats.org/drawingml/2006/main">
              <a:ext uri="{FF2B5EF4-FFF2-40B4-BE49-F238E27FC236}">
                <a16:creationId xmlns:a16="http://schemas.microsoft.com/office/drawing/2014/main" id="{F4A28549-81F1-48B9-B43A-340878238B2C}"/>
              </a:ext>
            </a:extLst>
          </p:cNvPr>
          <p:cNvSpPr>
            <a:spLocks xmlns:a="http://schemas.openxmlformats.org/drawingml/2006/main" noGrp="1"/>
          </p:cNvSpPr>
          <p:nvPr/>
        </p:nvSpPr>
        <p:spPr>
          <a:xfrm xmlns:a="http://schemas.openxmlformats.org/drawingml/2006/main">
            <a:off x="1188720" y="224028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Security must cover the full pipeline</a:t>
            </a:r>
            <a:endParaRPr/>
          </a:p>
        </p:txBody>
      </p:sp>
      <p:sp>
        <p:nvSpPr>
          <p:cNvPr id="200" name="Google Shape;200;p22">
            <a:extLst xmlns:a="http://schemas.openxmlformats.org/drawingml/2006/main">
              <a:ext uri="{FF2B5EF4-FFF2-40B4-BE49-F238E27FC236}">
                <a16:creationId xmlns:a16="http://schemas.microsoft.com/office/drawing/2014/main" id="{5923FA01-C686-4FC9-88C4-15F2A8595C5C}"/>
              </a:ext>
            </a:extLst>
          </p:cNvPr>
          <p:cNvSpPr>
            <a:spLocks xmlns:a="http://schemas.openxmlformats.org/drawingml/2006/main" noGrp="1"/>
          </p:cNvSpPr>
          <p:nvPr/>
        </p:nvSpPr>
        <p:spPr>
          <a:xfrm xmlns:a="http://schemas.openxmlformats.org/drawingml/2006/main">
            <a:off x="1188720" y="256032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Publisher, broker, subscriber, and dashboard are separate trust boundaries. A weakness in any stage can undermine the entire system.</a:t>
            </a:r>
            <a:endParaRPr/>
          </a:p>
        </p:txBody>
      </p:sp>
      <p:sp>
        <p:nvSpPr>
          <p:cNvPr id="201" name="Google Shape;201;p22">
            <a:extLst xmlns:a="http://schemas.openxmlformats.org/drawingml/2006/main">
              <a:ext uri="{FF2B5EF4-FFF2-40B4-BE49-F238E27FC236}">
                <a16:creationId xmlns:a16="http://schemas.microsoft.com/office/drawing/2014/main" id="{A99B3F0D-304B-4F8C-8A18-B9F9C0F0F7B2}"/>
              </a:ext>
            </a:extLst>
          </p:cNvPr>
          <p:cNvSpPr>
            <a:spLocks xmlns:a="http://schemas.openxmlformats.org/drawingml/2006/main" noGrp="1"/>
          </p:cNvSpPr>
          <p:nvPr/>
        </p:nvSpPr>
        <p:spPr>
          <a:xfrm xmlns:a="http://schemas.openxmlformats.org/drawingml/2006/main">
            <a:off x="731520" y="3154680"/>
            <a:ext cx="274320" cy="274320"/>
          </a:xfrm>
          <a:prstGeom xmlns:a="http://schemas.openxmlformats.org/drawingml/2006/main" prst="ellipse">
            <a:avLst/>
          </a:prstGeom>
          <a:solidFill xmlns:a="http://schemas.openxmlformats.org/drawingml/2006/main">
            <a:srgbClr val="22C7B8"/>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3</a:t>
            </a:r>
            <a:endParaRPr/>
          </a:p>
        </p:txBody>
      </p:sp>
      <p:sp>
        <p:nvSpPr>
          <p:cNvPr id="202" name="Google Shape;202;p22">
            <a:extLst xmlns:a="http://schemas.openxmlformats.org/drawingml/2006/main">
              <a:ext uri="{FF2B5EF4-FFF2-40B4-BE49-F238E27FC236}">
                <a16:creationId xmlns:a16="http://schemas.microsoft.com/office/drawing/2014/main" id="{7FC99DF9-492B-4E1E-BB6A-E1532D6F30F7}"/>
              </a:ext>
            </a:extLst>
          </p:cNvPr>
          <p:cNvSpPr>
            <a:spLocks xmlns:a="http://schemas.openxmlformats.org/drawingml/2006/main" noGrp="1"/>
          </p:cNvSpPr>
          <p:nvPr/>
        </p:nvSpPr>
        <p:spPr>
          <a:xfrm xmlns:a="http://schemas.openxmlformats.org/drawingml/2006/main">
            <a:off x="1188720" y="310896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Attack simulation validates assumptions</a:t>
            </a:r>
            <a:endParaRPr/>
          </a:p>
        </p:txBody>
      </p:sp>
      <p:sp>
        <p:nvSpPr>
          <p:cNvPr id="203" name="Google Shape;203;p22">
            <a:extLst xmlns:a="http://schemas.openxmlformats.org/drawingml/2006/main">
              <a:ext uri="{FF2B5EF4-FFF2-40B4-BE49-F238E27FC236}">
                <a16:creationId xmlns:a16="http://schemas.microsoft.com/office/drawing/2014/main" id="{CB177E8D-6B15-4F8F-BFCF-CAB73B18454D}"/>
              </a:ext>
            </a:extLst>
          </p:cNvPr>
          <p:cNvSpPr>
            <a:spLocks xmlns:a="http://schemas.openxmlformats.org/drawingml/2006/main" noGrp="1"/>
          </p:cNvSpPr>
          <p:nvPr/>
        </p:nvSpPr>
        <p:spPr>
          <a:xfrm xmlns:a="http://schemas.openxmlformats.org/drawingml/2006/main">
            <a:off x="1188720" y="342900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a:solidFill>
                  <a:srgbClr val="96AFB9"/>
                </a:solidFill>
                <a:latin typeface="Inter"/>
                <a:ea typeface="Inter"/>
                <a:cs typeface="Inter"/>
              </a:rPr>
              <a:t>Normal operation only proves that data flows. Controlled attacks show whether forged, stale, and unauthorized messages fail for the expected reason.</a:t>
            </a:r>
            <a:endParaRPr sz="1000">
              <a:solidFill>
                <a:srgbClr val="666666"/>
              </a:solidFill>
              <a:latin typeface="Inter"/>
              <a:ea typeface="Inter"/>
              <a:cs typeface="Inter"/>
            </a:endParaRPr>
          </a:p>
        </p:txBody>
      </p:sp>
      <p:sp>
        <p:nvSpPr>
          <p:cNvPr id="204" name="Google Shape;204;p22">
            <a:extLst xmlns:a="http://schemas.openxmlformats.org/drawingml/2006/main">
              <a:ext uri="{FF2B5EF4-FFF2-40B4-BE49-F238E27FC236}">
                <a16:creationId xmlns:a16="http://schemas.microsoft.com/office/drawing/2014/main" id="{84FB27C3-F15D-47B2-BE71-0C75E7A48ED8}"/>
              </a:ext>
            </a:extLst>
          </p:cNvPr>
          <p:cNvSpPr>
            <a:spLocks xmlns:a="http://schemas.openxmlformats.org/drawingml/2006/main" noGrp="1"/>
          </p:cNvSpPr>
          <p:nvPr/>
        </p:nvSpPr>
        <p:spPr>
          <a:xfrm xmlns:a="http://schemas.openxmlformats.org/drawingml/2006/main">
            <a:off x="731520" y="4023359"/>
            <a:ext cx="274320" cy="274320"/>
          </a:xfrm>
          <a:prstGeom xmlns:a="http://schemas.openxmlformats.org/drawingml/2006/main" prst="ellipse">
            <a:avLst/>
          </a:prstGeom>
          <a:solidFill xmlns:a="http://schemas.openxmlformats.org/drawingml/2006/main">
            <a:srgbClr val="4FC3F7"/>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4</a:t>
            </a:r>
            <a:endParaRPr/>
          </a:p>
        </p:txBody>
      </p:sp>
      <p:sp>
        <p:nvSpPr>
          <p:cNvPr id="205" name="Google Shape;205;p22">
            <a:extLst xmlns:a="http://schemas.openxmlformats.org/drawingml/2006/main">
              <a:ext uri="{FF2B5EF4-FFF2-40B4-BE49-F238E27FC236}">
                <a16:creationId xmlns:a16="http://schemas.microsoft.com/office/drawing/2014/main" id="{4C860B63-573C-402D-9DD8-D442068070AD}"/>
              </a:ext>
            </a:extLst>
          </p:cNvPr>
          <p:cNvSpPr>
            <a:spLocks xmlns:a="http://schemas.openxmlformats.org/drawingml/2006/main" noGrp="1"/>
          </p:cNvSpPr>
          <p:nvPr/>
        </p:nvSpPr>
        <p:spPr>
          <a:xfrm xmlns:a="http://schemas.openxmlformats.org/drawingml/2006/main">
            <a:off x="1188720" y="3977639"/>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The evidence has defined limits</a:t>
            </a:r>
            <a:endParaRPr/>
          </a:p>
        </p:txBody>
      </p:sp>
      <p:sp>
        <p:nvSpPr>
          <p:cNvPr id="206" name="Google Shape;206;p22">
            <a:extLst xmlns:a="http://schemas.openxmlformats.org/drawingml/2006/main">
              <a:ext uri="{FF2B5EF4-FFF2-40B4-BE49-F238E27FC236}">
                <a16:creationId xmlns:a16="http://schemas.microsoft.com/office/drawing/2014/main" id="{36DDEC20-073F-4CAF-A4AB-033BC407BEE2}"/>
              </a:ext>
            </a:extLst>
          </p:cNvPr>
          <p:cNvSpPr>
            <a:spLocks xmlns:a="http://schemas.openxmlformats.org/drawingml/2006/main" noGrp="1"/>
          </p:cNvSpPr>
          <p:nvPr/>
        </p:nvSpPr>
        <p:spPr>
          <a:xfrm xmlns:a="http://schemas.openxmlformats.org/drawingml/2006/main">
            <a:off x="1188720" y="4297679"/>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The lab covered eavesdropping, injection, and replay. Production readiness also needs outage, certificate-theft, denial-of-service, and recovery testing.</a:t>
            </a:r>
            <a:endParaRPr/>
          </a:p>
        </p:txBody>
      </p:sp>
    </p:spTree>
    <p:extLst>
      <p:ext uri="{BB962C8B-B14F-4D97-AF65-F5344CB8AC3E}">
        <p14:creationId xmlns:p14="http://schemas.microsoft.com/office/powerpoint/2010/main" val="492572869"/>
      </p:ext>
    </p:extLst>
  </p:cSld>
</p:sld>
</file>

<file path=ppt/slides/slide14.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211" name="Google Shape;211;p23">
            <a:extLst xmlns:a="http://schemas.openxmlformats.org/drawingml/2006/main">
              <a:ext uri="{FF2B5EF4-FFF2-40B4-BE49-F238E27FC236}">
                <a16:creationId xmlns:a16="http://schemas.microsoft.com/office/drawing/2014/main" id="{9020E9B2-E9AF-47D2-A88A-FC7EE81AE462}"/>
              </a:ext>
            </a:extLst>
          </p:cNvPr>
          <p:cNvSpPr>
            <a:spLocks xmlns:a="http://schemas.openxmlformats.org/drawingml/2006/main" noGrp="1"/>
          </p:cNvSpPr>
          <p:nvPr/>
        </p:nvSpPr>
        <p:spPr>
          <a:xfrm xmlns:a="http://schemas.openxmlformats.org/drawingml/2006/main">
            <a:off x="365760" y="274320"/>
            <a:ext cx="457200" cy="320040"/>
          </a:xfrm>
          <a:prstGeom xmlns:a="http://schemas.openxmlformats.org/drawingml/2006/main" prst="roundRect">
            <a:avLst>
              <a:gd name="adj" fmla="val 16667"/>
            </a:avLst>
          </a:prstGeom>
          <a:solidFill xmlns:a="http://schemas.openxmlformats.org/drawingml/2006/main">
            <a:srgbClr val="4FC3F7"/>
          </a:solidFill>
          <a:ln xmlns:a="http://schemas.openxmlformats.org/drawingml/2006/main" w="9525">
            <a:solidFill>
              <a:srgbClr val="87EBC7">
                <a:alpha val="45000"/>
              </a:srgbClr>
            </a:solidFill>
            <a:prstDash val="solid"/>
          </a:ln>
          <a:effectLst xmlns:a="http://schemas.openxmlformats.org/drawingml/2006/main">
            <a:outerShdw blurRad="40000" dist="23000" dir="5400000" rotWithShape="0">
              <a:srgbClr val="000000">
                <a:alpha val="34902"/>
              </a:srgbClr>
            </a:outerShdw>
          </a:effectLst>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975" b="1" i="0">
                <a:solidFill>
                  <a:srgbClr val="06131F"/>
                </a:solidFill>
                <a:latin typeface="Inter"/>
                <a:ea typeface="Inter"/>
                <a:cs typeface="Inter"/>
              </a:defRPr>
            </a:pPr>
            <a:r>
              <a:rPr sz="975" b="1" i="0" u="none" cap="none">
                <a:solidFill>
                  <a:srgbClr val="06131F"/>
                </a:solidFill>
                <a:latin typeface="Inter"/>
                <a:ea typeface="Inter"/>
                <a:cs typeface="Inter"/>
              </a:rPr>
              <a:t>13</a:t>
            </a:r>
            <a:endParaRPr/>
          </a:p>
        </p:txBody>
      </p:sp>
      <p:sp>
        <p:nvSpPr>
          <p:cNvPr id="212" name="Google Shape;212;p23">
            <a:extLst xmlns:a="http://schemas.openxmlformats.org/drawingml/2006/main">
              <a:ext uri="{FF2B5EF4-FFF2-40B4-BE49-F238E27FC236}">
                <a16:creationId xmlns:a16="http://schemas.microsoft.com/office/drawing/2014/main" id="{F1DDCC07-5826-4E1D-A4FC-851D2B8A6CB5}"/>
              </a:ext>
            </a:extLst>
          </p:cNvPr>
          <p:cNvSpPr>
            <a:spLocks xmlns:a="http://schemas.openxmlformats.org/drawingml/2006/main" noGrp="1"/>
          </p:cNvSpPr>
          <p:nvPr/>
        </p:nvSpPr>
        <p:spPr>
          <a:xfrm xmlns:a="http://schemas.openxmlformats.org/drawingml/2006/main">
            <a:off x="1005840" y="190500"/>
            <a:ext cx="7772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6308"/>
          </a:bodyPr>
          <a:lstStyle xmlns:a="http://schemas.openxmlformats.org/drawingml/2006/main"/>
          <a:p xmlns:a="http://schemas.openxmlformats.org/drawingml/2006/main">
            <a:pPr marL="0" marR="0" lvl="0" indent="0" algn="l">
              <a:spcBef>
                <a:spcPts val="0"/>
              </a:spcBef>
              <a:spcAft>
                <a:spcPts val="0"/>
              </a:spcAft>
              <a:buNone/>
              <a:defRPr sz="2475" b="1" i="0">
                <a:solidFill>
                  <a:srgbClr val="F5FCFC"/>
                </a:solidFill>
                <a:latin typeface="Inter"/>
                <a:ea typeface="Inter"/>
                <a:cs typeface="Inter"/>
              </a:defRPr>
            </a:pPr>
            <a:r>
              <a:rPr sz="2475" b="1" i="0" u="none" cap="none">
                <a:solidFill>
                  <a:srgbClr val="F5FCFC"/>
                </a:solidFill>
                <a:latin typeface="Inter"/>
                <a:ea typeface="Inter"/>
                <a:cs typeface="Inter"/>
              </a:rPr>
              <a:t>Four Actions Move the Prototype Toward Production</a:t>
            </a:r>
            <a:endParaRPr/>
          </a:p>
        </p:txBody>
      </p:sp>
      <p:sp>
        <p:nvSpPr>
          <p:cNvPr id="213" name="Google Shape;213;p23">
            <a:extLst xmlns:a="http://schemas.openxmlformats.org/drawingml/2006/main">
              <a:ext uri="{FF2B5EF4-FFF2-40B4-BE49-F238E27FC236}">
                <a16:creationId xmlns:a16="http://schemas.microsoft.com/office/drawing/2014/main" id="{980372EF-7E34-4B03-8B89-24E681A6A3E8}"/>
              </a:ext>
            </a:extLst>
          </p:cNvPr>
          <p:cNvSpPr>
            <a:spLocks xmlns:a="http://schemas.openxmlformats.org/drawingml/2006/main" noGrp="1"/>
          </p:cNvSpPr>
          <p:nvPr/>
        </p:nvSpPr>
        <p:spPr>
          <a:xfrm xmlns:a="http://schemas.openxmlformats.org/drawingml/2006/main">
            <a:off x="1005840" y="781050"/>
            <a:ext cx="77724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163" b="0" i="0">
                <a:solidFill>
                  <a:srgbClr val="96AFB9"/>
                </a:solidFill>
                <a:latin typeface="Inter"/>
                <a:ea typeface="Inter"/>
                <a:cs typeface="Inter"/>
              </a:defRPr>
            </a:pPr>
            <a:r>
              <a:rPr sz="1163" b="0" i="0" u="none" cap="none">
                <a:solidFill>
                  <a:srgbClr val="96AFB9"/>
                </a:solidFill>
                <a:latin typeface="Inter"/>
                <a:ea typeface="Inter"/>
                <a:cs typeface="Inter"/>
              </a:rPr>
              <a:t>Grand Marina can strengthen the protection while keeping ownership, monitoring, and recovery procedures clear for the operating team.</a:t>
            </a:r>
            <a:endParaRPr/>
          </a:p>
        </p:txBody>
      </p:sp>
      <p:sp>
        <p:nvSpPr>
          <p:cNvPr id="214" name="Google Shape;214;p23">
            <a:extLst xmlns:a="http://schemas.openxmlformats.org/drawingml/2006/main">
              <a:ext uri="{FF2B5EF4-FFF2-40B4-BE49-F238E27FC236}">
                <a16:creationId xmlns:a16="http://schemas.microsoft.com/office/drawing/2014/main" id="{2484AD52-533D-4EB3-8781-37B2D6F03BC2}"/>
              </a:ext>
            </a:extLst>
          </p:cNvPr>
          <p:cNvSpPr>
            <a:spLocks xmlns:a="http://schemas.openxmlformats.org/drawingml/2006/main" noGrp="1"/>
          </p:cNvSpPr>
          <p:nvPr/>
        </p:nvSpPr>
        <p:spPr>
          <a:xfrm xmlns:a="http://schemas.openxmlformats.org/drawingml/2006/main">
            <a:off x="731520" y="1417320"/>
            <a:ext cx="274320" cy="274320"/>
          </a:xfrm>
          <a:prstGeom xmlns:a="http://schemas.openxmlformats.org/drawingml/2006/main" prst="ellipse">
            <a:avLst/>
          </a:prstGeom>
          <a:solidFill xmlns:a="http://schemas.openxmlformats.org/drawingml/2006/main">
            <a:srgbClr val="4FC3F7"/>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1</a:t>
            </a:r>
            <a:endParaRPr/>
          </a:p>
        </p:txBody>
      </p:sp>
      <p:sp>
        <p:nvSpPr>
          <p:cNvPr id="215" name="Google Shape;215;p23">
            <a:extLst xmlns:a="http://schemas.openxmlformats.org/drawingml/2006/main">
              <a:ext uri="{FF2B5EF4-FFF2-40B4-BE49-F238E27FC236}">
                <a16:creationId xmlns:a16="http://schemas.microsoft.com/office/drawing/2014/main" id="{37C1C4B9-8EEC-47E8-848B-CA281ED01210}"/>
              </a:ext>
            </a:extLst>
          </p:cNvPr>
          <p:cNvSpPr>
            <a:spLocks xmlns:a="http://schemas.openxmlformats.org/drawingml/2006/main" noGrp="1"/>
          </p:cNvSpPr>
          <p:nvPr/>
        </p:nvSpPr>
        <p:spPr>
          <a:xfrm xmlns:a="http://schemas.openxmlformats.org/drawingml/2006/main">
            <a:off x="1188720" y="137160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Automate certificate lifecycle</a:t>
            </a:r>
            <a:endParaRPr/>
          </a:p>
        </p:txBody>
      </p:sp>
      <p:sp>
        <p:nvSpPr>
          <p:cNvPr id="216" name="Google Shape;216;p23">
            <a:extLst xmlns:a="http://schemas.openxmlformats.org/drawingml/2006/main">
              <a:ext uri="{FF2B5EF4-FFF2-40B4-BE49-F238E27FC236}">
                <a16:creationId xmlns:a16="http://schemas.microsoft.com/office/drawing/2014/main" id="{D5E6B56D-A867-4F13-9E3A-6E27E7509516}"/>
              </a:ext>
            </a:extLst>
          </p:cNvPr>
          <p:cNvSpPr>
            <a:spLocks xmlns:a="http://schemas.openxmlformats.org/drawingml/2006/main" noGrp="1"/>
          </p:cNvSpPr>
          <p:nvPr/>
        </p:nvSpPr>
        <p:spPr>
          <a:xfrm xmlns:a="http://schemas.openxmlformats.org/drawingml/2006/main">
            <a:off x="1188720" y="169164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Issue, rotate, expire, and revoke device certificates automatically. A lost or stolen certificate should not remain trusted.</a:t>
            </a:r>
            <a:endParaRPr/>
          </a:p>
        </p:txBody>
      </p:sp>
      <p:sp>
        <p:nvSpPr>
          <p:cNvPr id="217" name="Google Shape;217;p23">
            <a:extLst xmlns:a="http://schemas.openxmlformats.org/drawingml/2006/main">
              <a:ext uri="{FF2B5EF4-FFF2-40B4-BE49-F238E27FC236}">
                <a16:creationId xmlns:a16="http://schemas.microsoft.com/office/drawing/2014/main" id="{8D9BC4B3-430A-4493-8DBF-D4D527ACA324}"/>
              </a:ext>
            </a:extLst>
          </p:cNvPr>
          <p:cNvSpPr>
            <a:spLocks xmlns:a="http://schemas.openxmlformats.org/drawingml/2006/main" noGrp="1"/>
          </p:cNvSpPr>
          <p:nvPr/>
        </p:nvSpPr>
        <p:spPr>
          <a:xfrm xmlns:a="http://schemas.openxmlformats.org/drawingml/2006/main">
            <a:off x="731520" y="2286000"/>
            <a:ext cx="274320" cy="274320"/>
          </a:xfrm>
          <a:prstGeom xmlns:a="http://schemas.openxmlformats.org/drawingml/2006/main" prst="ellipse">
            <a:avLst/>
          </a:prstGeom>
          <a:solidFill xmlns:a="http://schemas.openxmlformats.org/drawingml/2006/main">
            <a:srgbClr val="22C7B8"/>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2</a:t>
            </a:r>
            <a:endParaRPr/>
          </a:p>
        </p:txBody>
      </p:sp>
      <p:sp>
        <p:nvSpPr>
          <p:cNvPr id="218" name="Google Shape;218;p23">
            <a:extLst xmlns:a="http://schemas.openxmlformats.org/drawingml/2006/main">
              <a:ext uri="{FF2B5EF4-FFF2-40B4-BE49-F238E27FC236}">
                <a16:creationId xmlns:a16="http://schemas.microsoft.com/office/drawing/2014/main" id="{207B5965-EE55-4221-9233-6C7A846B2DAE}"/>
              </a:ext>
            </a:extLst>
          </p:cNvPr>
          <p:cNvSpPr>
            <a:spLocks xmlns:a="http://schemas.openxmlformats.org/drawingml/2006/main" noGrp="1"/>
          </p:cNvSpPr>
          <p:nvPr/>
        </p:nvSpPr>
        <p:spPr>
          <a:xfrm xmlns:a="http://schemas.openxmlformats.org/drawingml/2006/main">
            <a:off x="1188720" y="224028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Protect signing keys</a:t>
            </a:r>
            <a:endParaRPr/>
          </a:p>
        </p:txBody>
      </p:sp>
      <p:sp>
        <p:nvSpPr>
          <p:cNvPr id="219" name="Google Shape;219;p23">
            <a:extLst xmlns:a="http://schemas.openxmlformats.org/drawingml/2006/main">
              <a:ext uri="{FF2B5EF4-FFF2-40B4-BE49-F238E27FC236}">
                <a16:creationId xmlns:a16="http://schemas.microsoft.com/office/drawing/2014/main" id="{D2B97565-1399-4A9C-885D-ABBAA146219E}"/>
              </a:ext>
            </a:extLst>
          </p:cNvPr>
          <p:cNvSpPr>
            <a:spLocks xmlns:a="http://schemas.openxmlformats.org/drawingml/2006/main" noGrp="1"/>
          </p:cNvSpPr>
          <p:nvPr/>
        </p:nvSpPr>
        <p:spPr>
          <a:xfrm xmlns:a="http://schemas.openxmlformats.org/drawingml/2006/main">
            <a:off x="1188720" y="256032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Store HMAC secrets outside source code and assign a unique key to each device. One compromised sensor should not expose the whole fleet.</a:t>
            </a:r>
            <a:endParaRPr/>
          </a:p>
        </p:txBody>
      </p:sp>
      <p:sp>
        <p:nvSpPr>
          <p:cNvPr id="220" name="Google Shape;220;p23">
            <a:extLst xmlns:a="http://schemas.openxmlformats.org/drawingml/2006/main">
              <a:ext uri="{FF2B5EF4-FFF2-40B4-BE49-F238E27FC236}">
                <a16:creationId xmlns:a16="http://schemas.microsoft.com/office/drawing/2014/main" id="{368BD052-23A8-42F4-8609-6E2EBB067A83}"/>
              </a:ext>
            </a:extLst>
          </p:cNvPr>
          <p:cNvSpPr>
            <a:spLocks xmlns:a="http://schemas.openxmlformats.org/drawingml/2006/main" noGrp="1"/>
          </p:cNvSpPr>
          <p:nvPr/>
        </p:nvSpPr>
        <p:spPr>
          <a:xfrm xmlns:a="http://schemas.openxmlformats.org/drawingml/2006/main">
            <a:off x="731520" y="3154680"/>
            <a:ext cx="274320" cy="274320"/>
          </a:xfrm>
          <a:prstGeom xmlns:a="http://schemas.openxmlformats.org/drawingml/2006/main" prst="ellipse">
            <a:avLst/>
          </a:prstGeom>
          <a:solidFill xmlns:a="http://schemas.openxmlformats.org/drawingml/2006/main">
            <a:srgbClr val="4FC3F7"/>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3</a:t>
            </a:r>
            <a:endParaRPr/>
          </a:p>
        </p:txBody>
      </p:sp>
      <p:sp>
        <p:nvSpPr>
          <p:cNvPr id="221" name="Google Shape;221;p23">
            <a:extLst xmlns:a="http://schemas.openxmlformats.org/drawingml/2006/main">
              <a:ext uri="{FF2B5EF4-FFF2-40B4-BE49-F238E27FC236}">
                <a16:creationId xmlns:a16="http://schemas.microsoft.com/office/drawing/2014/main" id="{F704F002-50A1-4611-9B69-949C0EBFABC7}"/>
              </a:ext>
            </a:extLst>
          </p:cNvPr>
          <p:cNvSpPr>
            <a:spLocks xmlns:a="http://schemas.openxmlformats.org/drawingml/2006/main" noGrp="1"/>
          </p:cNvSpPr>
          <p:nvPr/>
        </p:nvSpPr>
        <p:spPr>
          <a:xfrm xmlns:a="http://schemas.openxmlformats.org/drawingml/2006/main">
            <a:off x="1188720" y="3108960"/>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Centralize security monitoring</a:t>
            </a:r>
            <a:endParaRPr/>
          </a:p>
        </p:txBody>
      </p:sp>
      <p:sp>
        <p:nvSpPr>
          <p:cNvPr id="222" name="Google Shape;222;p23">
            <a:extLst xmlns:a="http://schemas.openxmlformats.org/drawingml/2006/main">
              <a:ext uri="{FF2B5EF4-FFF2-40B4-BE49-F238E27FC236}">
                <a16:creationId xmlns:a16="http://schemas.microsoft.com/office/drawing/2014/main" id="{78200B28-B613-4FBF-A2EF-69CF7E85B310}"/>
              </a:ext>
            </a:extLst>
          </p:cNvPr>
          <p:cNvSpPr>
            <a:spLocks xmlns:a="http://schemas.openxmlformats.org/drawingml/2006/main" noGrp="1"/>
          </p:cNvSpPr>
          <p:nvPr/>
        </p:nvSpPr>
        <p:spPr>
          <a:xfrm xmlns:a="http://schemas.openxmlformats.org/drawingml/2006/main">
            <a:off x="1188720" y="3429000"/>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Send broker logs, certificate failures, anomaly alerts, and dashboard rejections to one SIEM or monitoring queue with escalation rules.</a:t>
            </a:r>
            <a:endParaRPr/>
          </a:p>
        </p:txBody>
      </p:sp>
      <p:sp>
        <p:nvSpPr>
          <p:cNvPr id="223" name="Google Shape;223;p23">
            <a:extLst xmlns:a="http://schemas.openxmlformats.org/drawingml/2006/main">
              <a:ext uri="{FF2B5EF4-FFF2-40B4-BE49-F238E27FC236}">
                <a16:creationId xmlns:a16="http://schemas.microsoft.com/office/drawing/2014/main" id="{8E42D752-DE16-4EFB-A0C6-17AD9773BA35}"/>
              </a:ext>
            </a:extLst>
          </p:cNvPr>
          <p:cNvSpPr>
            <a:spLocks xmlns:a="http://schemas.openxmlformats.org/drawingml/2006/main" noGrp="1"/>
          </p:cNvSpPr>
          <p:nvPr/>
        </p:nvSpPr>
        <p:spPr>
          <a:xfrm xmlns:a="http://schemas.openxmlformats.org/drawingml/2006/main">
            <a:off x="731520" y="4023359"/>
            <a:ext cx="274320" cy="274320"/>
          </a:xfrm>
          <a:prstGeom xmlns:a="http://schemas.openxmlformats.org/drawingml/2006/main" prst="ellipse">
            <a:avLst/>
          </a:prstGeom>
          <a:solidFill xmlns:a="http://schemas.openxmlformats.org/drawingml/2006/main">
            <a:srgbClr val="22C7B8"/>
          </a:solidFill>
          <a:ln xmlns:a="http://schemas.openxmlformats.org/drawingml/2006/main" w="9525">
            <a:solidFill>
              <a:srgbClr val="87EBC7">
                <a:alpha val="55000"/>
              </a:srgbClr>
            </a:solidFill>
            <a:prstDash val="solid"/>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050" b="1" i="0">
                <a:solidFill>
                  <a:srgbClr val="06131F"/>
                </a:solidFill>
                <a:latin typeface="Inter"/>
                <a:ea typeface="Inter"/>
                <a:cs typeface="Inter"/>
              </a:defRPr>
            </a:pPr>
            <a:r>
              <a:rPr sz="1050" b="1" i="0" u="none" cap="none">
                <a:solidFill>
                  <a:srgbClr val="06131F"/>
                </a:solidFill>
                <a:latin typeface="Inter"/>
                <a:ea typeface="Inter"/>
                <a:cs typeface="Inter"/>
              </a:rPr>
              <a:t>4</a:t>
            </a:r>
            <a:endParaRPr/>
          </a:p>
        </p:txBody>
      </p:sp>
      <p:sp>
        <p:nvSpPr>
          <p:cNvPr id="224" name="Google Shape;224;p23">
            <a:extLst xmlns:a="http://schemas.openxmlformats.org/drawingml/2006/main">
              <a:ext uri="{FF2B5EF4-FFF2-40B4-BE49-F238E27FC236}">
                <a16:creationId xmlns:a16="http://schemas.microsoft.com/office/drawing/2014/main" id="{8AAA3570-A520-417B-936E-3488DA0130DC}"/>
              </a:ext>
            </a:extLst>
          </p:cNvPr>
          <p:cNvSpPr>
            <a:spLocks xmlns:a="http://schemas.openxmlformats.org/drawingml/2006/main" noGrp="1"/>
          </p:cNvSpPr>
          <p:nvPr/>
        </p:nvSpPr>
        <p:spPr>
          <a:xfrm xmlns:a="http://schemas.openxmlformats.org/drawingml/2006/main">
            <a:off x="1188720" y="3977639"/>
            <a:ext cx="7315200" cy="304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350" b="1" i="0">
                <a:solidFill>
                  <a:srgbClr val="F5FCFC"/>
                </a:solidFill>
                <a:latin typeface="Inter"/>
                <a:ea typeface="Inter"/>
                <a:cs typeface="Inter"/>
              </a:defRPr>
            </a:pPr>
            <a:r>
              <a:rPr sz="1350" b="1" i="0" u="none" cap="none">
                <a:solidFill>
                  <a:srgbClr val="F5FCFC"/>
                </a:solidFill>
                <a:latin typeface="Inter"/>
                <a:ea typeface="Inter"/>
                <a:cs typeface="Inter"/>
              </a:rPr>
              <a:t>Expand testing and recovery</a:t>
            </a:r>
            <a:endParaRPr/>
          </a:p>
        </p:txBody>
      </p:sp>
      <p:sp>
        <p:nvSpPr>
          <p:cNvPr id="225" name="Google Shape;225;p23">
            <a:extLst xmlns:a="http://schemas.openxmlformats.org/drawingml/2006/main">
              <a:ext uri="{FF2B5EF4-FFF2-40B4-BE49-F238E27FC236}">
                <a16:creationId xmlns:a16="http://schemas.microsoft.com/office/drawing/2014/main" id="{6E88F2C6-9393-40EF-9895-1FE9784BE589}"/>
              </a:ext>
            </a:extLst>
          </p:cNvPr>
          <p:cNvSpPr>
            <a:spLocks xmlns:a="http://schemas.openxmlformats.org/drawingml/2006/main" noGrp="1"/>
          </p:cNvSpPr>
          <p:nvPr/>
        </p:nvSpPr>
        <p:spPr>
          <a:xfrm xmlns:a="http://schemas.openxmlformats.org/drawingml/2006/main">
            <a:off x="1188720" y="4297679"/>
            <a:ext cx="731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1028" b="0" i="0">
                <a:solidFill>
                  <a:srgbClr val="96AFB9"/>
                </a:solidFill>
                <a:latin typeface="Inter"/>
                <a:ea typeface="Inter"/>
                <a:cs typeface="Inter"/>
              </a:defRPr>
            </a:pPr>
            <a:r>
              <a:rPr sz="1028" b="0" i="0" u="none" cap="none">
                <a:solidFill>
                  <a:srgbClr val="96AFB9"/>
                </a:solidFill>
                <a:latin typeface="Inter"/>
                <a:ea typeface="Inter"/>
                <a:cs typeface="Inter"/>
              </a:rPr>
              <a:t>Test certificate theft, denial-of-service, broker outages, and key rotation. Document response ownership, restoration steps, and evidence retention.</a:t>
            </a:r>
            <a:endParaRPr/>
          </a:p>
        </p:txBody>
      </p:sp>
    </p:spTree>
    <p:extLst>
      <p:ext uri="{BB962C8B-B14F-4D97-AF65-F5344CB8AC3E}">
        <p14:creationId xmlns:p14="http://schemas.microsoft.com/office/powerpoint/2010/main" val="1296104353"/>
      </p:ext>
    </p:extLst>
  </p:cSld>
</p:sld>
</file>

<file path=ppt/slides/slide15.xml><?xml version="1.0" encoding="utf-8"?>
<p:sld xmlns:p="http://schemas.openxmlformats.org/presentationml/2006/main">
  <p:cSld>
    <p:bg>
      <p:bgPr>
        <a:gradFill xmlns:a="http://schemas.openxmlformats.org/drawingml/2006/main">
          <a:gsLst>
            <a:gs pos="0">
              <a:srgbClr val="06131F"/>
            </a:gs>
            <a:gs pos="58000">
              <a:srgbClr val="092331"/>
            </a:gs>
            <a:gs pos="100000">
              <a:srgbClr val="0A3037"/>
            </a:gs>
          </a:gsLst>
          <a:lin ang="8100000"/>
        </a:gradFill>
      </p:bgPr>
    </p:bg>
    <p:spTree>
      <p:nvGrpSpPr>
        <p:cNvPr id="1" name=""/>
        <p:cNvGrpSpPr/>
        <p:nvPr/>
      </p:nvGrpSpPr>
      <p:grpSpPr>
        <a:xfrm xmlns:a="http://schemas.openxmlformats.org/drawingml/2006/main"/>
      </p:grpSpPr>
      <p:sp>
        <p:nvSpPr>
          <p:cNvPr id="230" name="Google Shape;230;p24">
            <a:extLst xmlns:a="http://schemas.openxmlformats.org/drawingml/2006/main">
              <a:ext uri="{FF2B5EF4-FFF2-40B4-BE49-F238E27FC236}">
                <a16:creationId xmlns:a16="http://schemas.microsoft.com/office/drawing/2014/main" id="{9F5401E3-CA1D-47C5-BBAD-26BA6E49492F}"/>
              </a:ext>
            </a:extLst>
          </p:cNvPr>
          <p:cNvSpPr>
            <a:spLocks xmlns:a="http://schemas.openxmlformats.org/drawingml/2006/main" noGrp="1"/>
          </p:cNvSpPr>
          <p:nvPr/>
        </p:nvSpPr>
        <p:spPr>
          <a:xfrm xmlns:a="http://schemas.openxmlformats.org/drawingml/2006/main">
            <a:off x="1371600" y="1645920"/>
            <a:ext cx="64008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spcBef>
                <a:spcPts val="0"/>
              </a:spcBef>
              <a:spcAft>
                <a:spcPts val="0"/>
              </a:spcAft>
              <a:buNone/>
              <a:defRPr sz="4050" b="1" i="0">
                <a:solidFill>
                  <a:srgbClr val="F5FCFC"/>
                </a:solidFill>
                <a:latin typeface="Inter"/>
                <a:ea typeface="Inter"/>
                <a:cs typeface="Inter"/>
              </a:defRPr>
            </a:pPr>
            <a:r>
              <a:rPr sz="4050" b="1" i="0" u="none" cap="none">
                <a:gradFill>
                  <a:gsLst>
                    <a:gs pos="0">
                      <a:srgbClr val="F5FCFC"/>
                    </a:gs>
                    <a:gs pos="58000">
                      <a:srgbClr val="87EBC7"/>
                    </a:gs>
                    <a:gs pos="100000">
                      <a:srgbClr val="4FC3F7"/>
                    </a:gs>
                  </a:gsLst>
                  <a:lin ang="0"/>
                </a:gradFill>
                <a:latin typeface="Inter"/>
                <a:ea typeface="Inter"/>
                <a:cs typeface="Inter"/>
              </a:rPr>
              <a:t>100% Blocked</a:t>
            </a:r>
            <a:endParaRPr/>
          </a:p>
        </p:txBody>
      </p:sp>
      <p:sp>
        <p:nvSpPr>
          <p:cNvPr id="231" name="Google Shape;231;p24">
            <a:extLst xmlns:a="http://schemas.openxmlformats.org/drawingml/2006/main">
              <a:ext uri="{FF2B5EF4-FFF2-40B4-BE49-F238E27FC236}">
                <a16:creationId xmlns:a16="http://schemas.microsoft.com/office/drawing/2014/main" id="{BAE330B8-6E49-4DC6-A94A-B4811973B698}"/>
              </a:ext>
            </a:extLst>
          </p:cNvPr>
          <p:cNvSpPr>
            <a:spLocks xmlns:a="http://schemas.openxmlformats.org/drawingml/2006/main" noGrp="1"/>
          </p:cNvSpPr>
          <p:nvPr/>
        </p:nvSpPr>
        <p:spPr>
          <a:xfrm xmlns:a="http://schemas.openxmlformats.org/drawingml/2006/main">
            <a:off x="3200400" y="2651760"/>
            <a:ext cx="2743200" cy="25400"/>
          </a:xfrm>
          <a:prstGeom xmlns:a="http://schemas.openxmlformats.org/drawingml/2006/main" prst="rect">
            <a:avLst/>
          </a:prstGeom>
          <a:gradFill xmlns:a="http://schemas.openxmlformats.org/drawingml/2006/main">
            <a:gsLst>
              <a:gs pos="0">
                <a:srgbClr val="4FC3F7"/>
              </a:gs>
              <a:gs pos="50000">
                <a:srgbClr val="22C7B8"/>
              </a:gs>
              <a:gs pos="100000">
                <a:srgbClr val="87EBC7"/>
              </a:gs>
            </a:gsLst>
            <a:lin ang="0"/>
          </a:gra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dk1"/>
              </a:solidFill>
              <a:latin typeface="Calibri"/>
              <a:ea typeface="Calibri"/>
              <a:cs typeface="Calibri"/>
            </a:endParaRPr>
          </a:p>
        </p:txBody>
      </p:sp>
      <p:sp>
        <p:nvSpPr>
          <p:cNvPr id="232" name="Google Shape;232;p24">
            <a:extLst xmlns:a="http://schemas.openxmlformats.org/drawingml/2006/main">
              <a:ext uri="{FF2B5EF4-FFF2-40B4-BE49-F238E27FC236}">
                <a16:creationId xmlns:a16="http://schemas.microsoft.com/office/drawing/2014/main" id="{4972F497-4481-47D6-BF1A-4A9D40247B35}"/>
              </a:ext>
            </a:extLst>
          </p:cNvPr>
          <p:cNvSpPr>
            <a:spLocks xmlns:a="http://schemas.openxmlformats.org/drawingml/2006/main" noGrp="1"/>
          </p:cNvSpPr>
          <p:nvPr/>
        </p:nvSpPr>
        <p:spPr>
          <a:xfrm xmlns:a="http://schemas.openxmlformats.org/drawingml/2006/main">
            <a:off x="1371600" y="3009900"/>
            <a:ext cx="6400800" cy="51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ctr">
              <a:spcBef>
                <a:spcPts val="0"/>
              </a:spcBef>
              <a:spcAft>
                <a:spcPts val="0"/>
              </a:spcAft>
              <a:buNone/>
              <a:defRPr sz="1275" b="0" i="0">
                <a:solidFill>
                  <a:srgbClr val="96AFB9"/>
                </a:solidFill>
                <a:latin typeface="Inter"/>
                <a:ea typeface="Inter"/>
                <a:cs typeface="Inter"/>
              </a:defRPr>
            </a:pPr>
            <a:r>
              <a:rPr sz="1275" b="0" i="0">
                <a:solidFill>
                  <a:srgbClr val="96AFB9"/>
                </a:solidFill>
                <a:latin typeface="Inter"/>
                <a:ea typeface="Inter"/>
                <a:cs typeface="Inter"/>
              </a:rPr>
              <a:t>15 simulated attacks rejected while legitimate telemetry continued to reach the dashboard.</a:t>
            </a:r>
            <a:endParaRPr/>
          </a:p>
        </p:txBody>
      </p:sp>
    </p:spTree>
    <p:extLst>
      <p:ext uri="{BB962C8B-B14F-4D97-AF65-F5344CB8AC3E}">
        <p14:creationId xmlns:p14="http://schemas.microsoft.com/office/powerpoint/2010/main" val="692744946"/>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
          <a:effectLst>
            <a:outerShdw blurRad="209550" dist="90362" dir="4293903">
              <a:srgbClr val="000000">
                <a:alpha val="2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2026-08-13T04:12:07.7510000Z</dcterms:created>
  <dcterms:modified xsi:type="dcterms:W3CDTF">2026-08-13T04:12:07.7510000Z</dcterms:modified>
</coreProperties>
</file>